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8" d="100"/>
          <a:sy n="78"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标题和副标题">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tretch>
            <a:fillRect/>
          </a:stretch>
        </a:blipFill>
        <a:effectLst/>
      </p:bgPr>
    </p:bg>
    <p:spTree>
      <p:nvGrpSpPr>
        <p:cNvPr id="1" name=""/>
        <p:cNvGrpSpPr/>
        <p:nvPr/>
      </p:nvGrpSpPr>
      <p:grpSpPr>
        <a:xfrm>
          <a:off x="0" y="0"/>
          <a:ext cx="0" cy="0"/>
          <a:chOff x="0" y="0"/>
          <a:chExt cx="0" cy="0"/>
        </a:xfrm>
      </p:grpSpPr>
      <p:sp>
        <p:nvSpPr>
          <p:cNvPr id="2" name="AutoShape 2" hidden="1"/>
          <p:cNvSpPr/>
          <p:nvPr/>
        </p:nvSpPr>
        <p:spPr>
          <a:xfrm>
            <a:off x="0" y="0"/>
            <a:ext cx="0" cy="0"/>
          </a:xfrm>
          <a:prstGeom prst="rect">
            <a:avLst/>
          </a:prstGeom>
          <a:solidFill>
            <a:schemeClr val="accent1"/>
          </a:solidFill>
          <a:ln w="12700" cap="flat" cmpd="sng">
            <a:solidFill>
              <a:schemeClr val="accent1">
                <a:shade val="50000"/>
              </a:schemeClr>
            </a:solidFill>
            <a:prstDash val="solid"/>
          </a:ln>
        </p:spPr>
        <p:txBody>
          <a:bodyPr vert="horz" lIns="91440" tIns="45720" rIns="91440" bIns="45720" anchor="ctr"/>
          <a:lstStyle/>
          <a:p>
            <a:pPr marL="0" algn="ctr"/>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8" name="TextBox 8"/>
          <p:cNvSpPr txBox="1"/>
          <p:nvPr/>
        </p:nvSpPr>
        <p:spPr>
          <a:xfrm>
            <a:off x="179070" y="1186815"/>
            <a:ext cx="6867525" cy="2811780"/>
          </a:xfrm>
          <a:prstGeom prst="rect">
            <a:avLst/>
          </a:prstGeom>
          <a:noFill/>
        </p:spPr>
        <p:txBody>
          <a:bodyPr vert="horz" wrap="square" lIns="91440" tIns="45720" rIns="91440" bIns="45720" rtlCol="0" anchor="ctr">
            <a:noAutofit/>
          </a:bodyPr>
          <a:lstStyle/>
          <a:p>
            <a:pPr marL="0" indent="0" algn="l" fontAlgn="auto">
              <a:lnSpc>
                <a:spcPct val="100000"/>
              </a:lnSpc>
              <a:defRPr/>
            </a:pPr>
            <a:r>
              <a:rPr lang="en-US" sz="5400" b="0" i="0" u="none" spc="-200" baseline="0">
                <a:solidFill>
                  <a:srgbClr val="F27300"/>
                </a:solidFill>
                <a:latin typeface="思源黑体 Medium"/>
                <a:ea typeface="思源黑体 Medium"/>
              </a:rPr>
              <a:t>AgroRent: A Centralized Equipment Rental System</a:t>
            </a:r>
            <a:endParaRPr lang="en-US" sz="1100"/>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anim calcmode="lin" valueType="num">
                                      <p:cBhvr>
                                        <p:cTn id="6" dur="1000" fill="hold"/>
                                        <p:tgtEl>
                                          <p:spTgt spid="8"/>
                                        </p:tgtEl>
                                        <p:attrNameLst>
                                          <p:attrName>ppt_x</p:attrName>
                                        </p:attrNameLst>
                                      </p:cBhvr>
                                      <p:tavLst>
                                        <p:tav tm="0">
                                          <p:val>
                                            <p:strVal val="#ppt_x-.1"/>
                                          </p:val>
                                        </p:tav>
                                        <p:tav tm="100000">
                                          <p:val>
                                            <p:strVal val="#ppt_x"/>
                                          </p:val>
                                        </p:tav>
                                      </p:tavLst>
                                    </p:anim>
                                    <p:anim calcmode="lin" valueType="num">
                                      <p:cBhvr>
                                        <p:cTn id="7" dur="1000" fill="hold"/>
                                        <p:tgtEl>
                                          <p:spTgt spid="8"/>
                                        </p:tgtEl>
                                        <p:attrNameLst>
                                          <p:attrName>ppt_y</p:attrName>
                                        </p:attrNameLst>
                                      </p:cBhvr>
                                      <p:tavLst>
                                        <p:tav tm="0">
                                          <p:val>
                                            <p:strVal val="#ppt_y"/>
                                          </p:val>
                                        </p:tav>
                                        <p:tav tm="100000">
                                          <p:val>
                                            <p:strVal val="#ppt_y"/>
                                          </p:val>
                                        </p:tav>
                                      </p:tavLst>
                                    </p:anim>
                                    <p:animEffect transition="in" filter="fade">
                                      <p:cBhvr>
                                        <p:cTn id="8" dur="1000"/>
                                        <p:tgtEl>
                                          <p:spTgt spid="8"/>
                                        </p:tgtEl>
                                      </p:cBhvr>
                                    </p:animEffec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411565" y="1671136"/>
            <a:ext cx="6374670" cy="644353"/>
          </a:xfrm>
          <a:prstGeom prst="rect">
            <a:avLst/>
          </a:prstGeom>
          <a:ln>
            <a:noFill/>
          </a:ln>
        </p:spPr>
        <p:txBody>
          <a:bodyPr vert="horz" wrap="square" lIns="90170" tIns="46990" rIns="90170" bIns="46990" rtlCol="0" anchor="ctr">
            <a:normAutofit/>
          </a:bodyPr>
          <a:lstStyle/>
          <a:p>
            <a:pPr marL="0" indent="0" algn="l" fontAlgn="auto">
              <a:lnSpc>
                <a:spcPct val="100000"/>
              </a:lnSpc>
              <a:spcBef>
                <a:spcPct val="0"/>
              </a:spcBef>
              <a:defRPr/>
            </a:pPr>
            <a:r>
              <a:rPr lang="en-US" sz="2400" b="0" i="0" u="none" baseline="0">
                <a:solidFill>
                  <a:srgbClr val="F27300"/>
                </a:solidFill>
                <a:latin typeface="思源黑体 Normal"/>
                <a:ea typeface="思源黑体 Normal"/>
              </a:rPr>
              <a:t>Problem and Solution Overview</a:t>
            </a:r>
            <a:endParaRPr lang="en-US" sz="1100"/>
          </a:p>
        </p:txBody>
      </p:sp>
      <p:sp>
        <p:nvSpPr>
          <p:cNvPr id="3" name="TextBox 3"/>
          <p:cNvSpPr txBox="1"/>
          <p:nvPr/>
        </p:nvSpPr>
        <p:spPr>
          <a:xfrm>
            <a:off x="4207510" y="1568166"/>
            <a:ext cx="992430" cy="866086"/>
          </a:xfrm>
          <a:prstGeom prst="rect">
            <a:avLst/>
          </a:prstGeom>
          <a:noFill/>
        </p:spPr>
        <p:txBody>
          <a:bodyPr vert="horz" wrap="square" lIns="90170" tIns="46990" rIns="90170" bIns="46990" rtlCol="0" anchor="ctr">
            <a:normAutofit/>
          </a:bodyPr>
          <a:lstStyle/>
          <a:p>
            <a:pPr marL="0" indent="0" algn="ctr" fontAlgn="auto">
              <a:defRPr/>
            </a:pPr>
            <a:r>
              <a:rPr lang="en-US" sz="3200" b="0" i="0" u="none" baseline="0">
                <a:solidFill>
                  <a:srgbClr val="F27300"/>
                </a:solidFill>
                <a:latin typeface="思源黑体 Normal"/>
                <a:ea typeface="思源黑体 Normal"/>
              </a:rPr>
              <a:t>01</a:t>
            </a:r>
            <a:endParaRPr lang="en-US" sz="1100"/>
          </a:p>
        </p:txBody>
      </p:sp>
      <p:sp>
        <p:nvSpPr>
          <p:cNvPr id="4" name="TextBox 4"/>
          <p:cNvSpPr txBox="1"/>
          <p:nvPr/>
        </p:nvSpPr>
        <p:spPr>
          <a:xfrm>
            <a:off x="5411565" y="2426040"/>
            <a:ext cx="6374670" cy="644353"/>
          </a:xfrm>
          <a:prstGeom prst="rect">
            <a:avLst/>
          </a:prstGeom>
          <a:ln>
            <a:noFill/>
          </a:ln>
        </p:spPr>
        <p:txBody>
          <a:bodyPr vert="horz" wrap="square" lIns="90170" tIns="46990" rIns="90170" bIns="46990" rtlCol="0" anchor="ctr">
            <a:normAutofit/>
          </a:bodyPr>
          <a:lstStyle/>
          <a:p>
            <a:pPr marL="0" indent="0" algn="l" fontAlgn="auto">
              <a:lnSpc>
                <a:spcPct val="100000"/>
              </a:lnSpc>
              <a:spcBef>
                <a:spcPct val="0"/>
              </a:spcBef>
              <a:defRPr/>
            </a:pPr>
            <a:r>
              <a:rPr lang="en-US" sz="2400" b="0" i="0" u="none" baseline="0">
                <a:solidFill>
                  <a:srgbClr val="F27300"/>
                </a:solidFill>
                <a:latin typeface="思源黑体 Normal"/>
                <a:ea typeface="思源黑体 Normal"/>
              </a:rPr>
              <a:t>System Architecture and Design</a:t>
            </a:r>
            <a:endParaRPr lang="en-US" sz="1100"/>
          </a:p>
        </p:txBody>
      </p:sp>
      <p:sp>
        <p:nvSpPr>
          <p:cNvPr id="5" name="TextBox 5"/>
          <p:cNvSpPr txBox="1"/>
          <p:nvPr/>
        </p:nvSpPr>
        <p:spPr>
          <a:xfrm>
            <a:off x="4207510" y="2295274"/>
            <a:ext cx="992430" cy="866086"/>
          </a:xfrm>
          <a:prstGeom prst="rect">
            <a:avLst/>
          </a:prstGeom>
          <a:noFill/>
        </p:spPr>
        <p:txBody>
          <a:bodyPr vert="horz" wrap="square" lIns="90170" tIns="46990" rIns="90170" bIns="46990" rtlCol="0" anchor="ctr">
            <a:normAutofit/>
          </a:bodyPr>
          <a:lstStyle/>
          <a:p>
            <a:pPr marL="0" indent="0" algn="ctr" fontAlgn="auto">
              <a:defRPr/>
            </a:pPr>
            <a:r>
              <a:rPr lang="en-US" sz="3200" b="0" i="0" u="none" baseline="0">
                <a:solidFill>
                  <a:srgbClr val="F27300"/>
                </a:solidFill>
                <a:latin typeface="思源黑体 Normal"/>
                <a:ea typeface="思源黑体 Normal"/>
              </a:rPr>
              <a:t>02</a:t>
            </a:r>
            <a:endParaRPr lang="en-US" sz="1100"/>
          </a:p>
        </p:txBody>
      </p:sp>
      <p:sp>
        <p:nvSpPr>
          <p:cNvPr id="6" name="TextBox 6"/>
          <p:cNvSpPr txBox="1"/>
          <p:nvPr/>
        </p:nvSpPr>
        <p:spPr>
          <a:xfrm>
            <a:off x="5411565" y="3152516"/>
            <a:ext cx="6374670" cy="644353"/>
          </a:xfrm>
          <a:prstGeom prst="rect">
            <a:avLst/>
          </a:prstGeom>
          <a:ln>
            <a:noFill/>
          </a:ln>
        </p:spPr>
        <p:txBody>
          <a:bodyPr vert="horz" wrap="square" lIns="90170" tIns="46990" rIns="90170" bIns="46990" rtlCol="0" anchor="ctr">
            <a:normAutofit/>
          </a:bodyPr>
          <a:lstStyle/>
          <a:p>
            <a:pPr marL="0" indent="0" algn="l" fontAlgn="auto">
              <a:lnSpc>
                <a:spcPct val="100000"/>
              </a:lnSpc>
              <a:spcBef>
                <a:spcPct val="0"/>
              </a:spcBef>
              <a:defRPr/>
            </a:pPr>
            <a:r>
              <a:rPr lang="en-US" sz="2400" b="0" i="0" u="none" baseline="0">
                <a:solidFill>
                  <a:srgbClr val="F27300"/>
                </a:solidFill>
                <a:latin typeface="思源黑体 Normal"/>
                <a:ea typeface="思源黑体 Normal"/>
              </a:rPr>
              <a:t>Database Implementation</a:t>
            </a:r>
            <a:endParaRPr lang="en-US" sz="1100"/>
          </a:p>
        </p:txBody>
      </p:sp>
      <p:sp>
        <p:nvSpPr>
          <p:cNvPr id="7" name="TextBox 7"/>
          <p:cNvSpPr txBox="1"/>
          <p:nvPr/>
        </p:nvSpPr>
        <p:spPr>
          <a:xfrm>
            <a:off x="4207510" y="3049546"/>
            <a:ext cx="992430" cy="866086"/>
          </a:xfrm>
          <a:prstGeom prst="rect">
            <a:avLst/>
          </a:prstGeom>
          <a:noFill/>
        </p:spPr>
        <p:txBody>
          <a:bodyPr vert="horz" wrap="square" lIns="90170" tIns="46990" rIns="90170" bIns="46990" rtlCol="0" anchor="ctr">
            <a:normAutofit/>
          </a:bodyPr>
          <a:lstStyle/>
          <a:p>
            <a:pPr marL="0" indent="0" algn="ctr" fontAlgn="auto">
              <a:defRPr/>
            </a:pPr>
            <a:r>
              <a:rPr lang="en-US" sz="3200" b="0" i="0" u="none" baseline="0">
                <a:solidFill>
                  <a:srgbClr val="F27300"/>
                </a:solidFill>
                <a:latin typeface="思源黑体 Normal"/>
                <a:ea typeface="思源黑体 Normal"/>
              </a:rPr>
              <a:t>03</a:t>
            </a:r>
            <a:endParaRPr lang="en-US" sz="1100"/>
          </a:p>
        </p:txBody>
      </p:sp>
      <p:sp>
        <p:nvSpPr>
          <p:cNvPr id="8" name="TextBox 8"/>
          <p:cNvSpPr txBox="1"/>
          <p:nvPr/>
        </p:nvSpPr>
        <p:spPr>
          <a:xfrm>
            <a:off x="5411565" y="3878992"/>
            <a:ext cx="6374670" cy="644353"/>
          </a:xfrm>
          <a:prstGeom prst="rect">
            <a:avLst/>
          </a:prstGeom>
          <a:ln>
            <a:noFill/>
          </a:ln>
        </p:spPr>
        <p:txBody>
          <a:bodyPr vert="horz" wrap="square" lIns="90170" tIns="46990" rIns="90170" bIns="46990" rtlCol="0" anchor="ctr">
            <a:normAutofit/>
          </a:bodyPr>
          <a:lstStyle/>
          <a:p>
            <a:pPr marL="0" indent="0" algn="l" fontAlgn="auto">
              <a:lnSpc>
                <a:spcPct val="100000"/>
              </a:lnSpc>
              <a:spcBef>
                <a:spcPct val="0"/>
              </a:spcBef>
              <a:defRPr/>
            </a:pPr>
            <a:r>
              <a:rPr lang="en-US" sz="2400" b="0" i="0" u="none" baseline="0">
                <a:solidFill>
                  <a:srgbClr val="F27300"/>
                </a:solidFill>
                <a:latin typeface="思源黑体 Normal"/>
                <a:ea typeface="思源黑体 Normal"/>
              </a:rPr>
              <a:t>Data Analysis and Queries</a:t>
            </a:r>
            <a:endParaRPr lang="en-US" sz="1100"/>
          </a:p>
        </p:txBody>
      </p:sp>
      <p:sp>
        <p:nvSpPr>
          <p:cNvPr id="9" name="TextBox 9"/>
          <p:cNvSpPr txBox="1"/>
          <p:nvPr/>
        </p:nvSpPr>
        <p:spPr>
          <a:xfrm>
            <a:off x="4207510" y="3776022"/>
            <a:ext cx="992430" cy="866086"/>
          </a:xfrm>
          <a:prstGeom prst="rect">
            <a:avLst/>
          </a:prstGeom>
          <a:noFill/>
        </p:spPr>
        <p:txBody>
          <a:bodyPr vert="horz" wrap="square" lIns="90170" tIns="46990" rIns="90170" bIns="46990" rtlCol="0" anchor="ctr">
            <a:normAutofit/>
          </a:bodyPr>
          <a:lstStyle/>
          <a:p>
            <a:pPr marL="0" indent="0" algn="ctr" fontAlgn="auto">
              <a:defRPr/>
            </a:pPr>
            <a:r>
              <a:rPr lang="en-US" sz="3200" b="0" i="0" u="none" baseline="0">
                <a:solidFill>
                  <a:srgbClr val="F27300"/>
                </a:solidFill>
                <a:latin typeface="思源黑体 Normal"/>
                <a:ea typeface="思源黑体 Normal"/>
              </a:rPr>
              <a:t>04</a:t>
            </a:r>
            <a:endParaRPr lang="en-US" sz="1100"/>
          </a:p>
        </p:txBody>
      </p:sp>
      <p:sp>
        <p:nvSpPr>
          <p:cNvPr id="10" name="TextBox 10"/>
          <p:cNvSpPr txBox="1"/>
          <p:nvPr/>
        </p:nvSpPr>
        <p:spPr>
          <a:xfrm>
            <a:off x="5411565" y="4607363"/>
            <a:ext cx="6374670" cy="644353"/>
          </a:xfrm>
          <a:prstGeom prst="rect">
            <a:avLst/>
          </a:prstGeom>
          <a:ln>
            <a:noFill/>
          </a:ln>
        </p:spPr>
        <p:txBody>
          <a:bodyPr vert="horz" wrap="square" lIns="90170" tIns="46990" rIns="90170" bIns="46990" rtlCol="0" anchor="ctr">
            <a:normAutofit/>
          </a:bodyPr>
          <a:lstStyle/>
          <a:p>
            <a:pPr marL="0" indent="0" algn="l" fontAlgn="auto">
              <a:lnSpc>
                <a:spcPct val="100000"/>
              </a:lnSpc>
              <a:spcBef>
                <a:spcPct val="0"/>
              </a:spcBef>
              <a:defRPr/>
            </a:pPr>
            <a:r>
              <a:rPr lang="en-US" sz="2400" b="0" i="0" u="none" baseline="0">
                <a:solidFill>
                  <a:srgbClr val="F27300"/>
                </a:solidFill>
                <a:latin typeface="思源黑体 Normal"/>
                <a:ea typeface="思源黑体 Normal"/>
              </a:rPr>
              <a:t>Conclusion</a:t>
            </a:r>
            <a:endParaRPr lang="en-US" sz="1100"/>
          </a:p>
        </p:txBody>
      </p:sp>
      <p:sp>
        <p:nvSpPr>
          <p:cNvPr id="11" name="TextBox 11"/>
          <p:cNvSpPr txBox="1"/>
          <p:nvPr/>
        </p:nvSpPr>
        <p:spPr>
          <a:xfrm>
            <a:off x="4207510" y="4504393"/>
            <a:ext cx="992430" cy="866086"/>
          </a:xfrm>
          <a:prstGeom prst="rect">
            <a:avLst/>
          </a:prstGeom>
          <a:noFill/>
        </p:spPr>
        <p:txBody>
          <a:bodyPr vert="horz" wrap="square" lIns="90170" tIns="46990" rIns="90170" bIns="46990" rtlCol="0" anchor="ctr">
            <a:normAutofit/>
          </a:bodyPr>
          <a:lstStyle/>
          <a:p>
            <a:pPr marL="0" indent="0" algn="ctr" fontAlgn="auto">
              <a:defRPr/>
            </a:pPr>
            <a:r>
              <a:rPr lang="en-US" sz="3200" b="0" i="0" u="none" baseline="0">
                <a:solidFill>
                  <a:srgbClr val="F27300"/>
                </a:solidFill>
                <a:latin typeface="思源黑体 Normal"/>
                <a:ea typeface="思源黑体 Normal"/>
              </a:rPr>
              <a:t>05</a:t>
            </a:r>
            <a:endParaRPr lang="en-US" sz="1100"/>
          </a:p>
        </p:txBody>
      </p:sp>
      <p:sp>
        <p:nvSpPr>
          <p:cNvPr id="12" name="TextBox 12"/>
          <p:cNvSpPr txBox="1"/>
          <p:nvPr/>
        </p:nvSpPr>
        <p:spPr>
          <a:xfrm>
            <a:off x="810260" y="2344420"/>
            <a:ext cx="3133725" cy="1570990"/>
          </a:xfrm>
          <a:prstGeom prst="rect">
            <a:avLst/>
          </a:prstGeom>
        </p:spPr>
        <p:txBody>
          <a:bodyPr vert="horz" wrap="square" lIns="90170" tIns="46990" rIns="90170" bIns="46990" rtlCol="0" anchor="t">
            <a:normAutofit/>
          </a:bodyPr>
          <a:lstStyle/>
          <a:p>
            <a:pPr marL="0" indent="0" algn="ctr" fontAlgn="auto">
              <a:lnSpc>
                <a:spcPct val="96000"/>
              </a:lnSpc>
              <a:defRPr/>
            </a:pPr>
            <a:r>
              <a:rPr lang="en-US" sz="6640" b="0" i="0" u="none" spc="-442" baseline="0">
                <a:solidFill>
                  <a:srgbClr val="F27300"/>
                </a:solidFill>
                <a:latin typeface="思源黑体 Medium"/>
                <a:ea typeface="思源黑体 Medium"/>
              </a:rPr>
              <a:t>Contents</a:t>
            </a:r>
            <a:endParaRPr lang="en-US" sz="1100"/>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fill="hold" nodeType="afterEffect">
                                  <p:stCondLst>
                                    <p:cond delay="0"/>
                                  </p:stCondLst>
                                  <p:childTnLst>
                                    <p:anim calcmode="lin" valueType="num">
                                      <p:cBhvr>
                                        <p:cTn id="6" dur="1000" fill="hold"/>
                                        <p:tgtEl>
                                          <p:spTgt spid="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7" dur="1000" fill="hold"/>
                                        <p:tgtEl>
                                          <p:spTgt spid="2"/>
                                        </p:tgtEl>
                                        <p:attrNameLst>
                                          <p:attrName>ppt_x</p:attrName>
                                        </p:attrNameLst>
                                      </p:cBhvr>
                                      <p:tavLst>
                                        <p:tav tm="0">
                                          <p:val>
                                            <p:fltVal val="-1"/>
                                          </p:val>
                                        </p:tav>
                                        <p:tav tm="50000">
                                          <p:val>
                                            <p:fltVal val="0.95"/>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fade">
                                      <p:cBhvr>
                                        <p:cTn id="9" dur="1000"/>
                                        <p:tgtEl>
                                          <p:spTgt spid="2"/>
                                        </p:tgtEl>
                                      </p:cBhvr>
                                    </p:animEffect>
                                    <p:set>
                                      <p:cBhvr>
                                        <p:cTn id="10" dur="1" fill="hold">
                                          <p:stCondLst>
                                            <p:cond delay="0"/>
                                          </p:stCondLst>
                                        </p:cTn>
                                        <p:tgtEl>
                                          <p:spTgt spid="2"/>
                                        </p:tgtEl>
                                        <p:attrNameLst>
                                          <p:attrName>style.visibility</p:attrName>
                                        </p:attrNameLst>
                                      </p:cBhvr>
                                      <p:to>
                                        <p:strVal val="visible"/>
                                      </p:to>
                                    </p:set>
                                  </p:childTnLst>
                                </p:cTn>
                              </p:par>
                            </p:childTnLst>
                          </p:cTn>
                        </p:par>
                        <p:par>
                          <p:cTn id="11" fill="hold">
                            <p:stCondLst>
                              <p:cond delay="0"/>
                            </p:stCondLst>
                            <p:childTnLst>
                              <p:par>
                                <p:cTn id="12" presetID="16" presetClass="entr" presetSubtype="42" fill="hold" nodeType="afterEffect">
                                  <p:stCondLst>
                                    <p:cond delay="0"/>
                                  </p:stCondLst>
                                  <p:childTnLst>
                                    <p:animEffect transition="in" filter="barn(outHorizontal)">
                                      <p:cBhvr>
                                        <p:cTn id="13" dur="500"/>
                                        <p:tgtEl>
                                          <p:spTgt spid="4"/>
                                        </p:tgtEl>
                                      </p:cBhvr>
                                    </p:animEffect>
                                    <p:set>
                                      <p:cBhvr>
                                        <p:cTn id="14" dur="500" fill="hold">
                                          <p:stCondLst>
                                            <p:cond delay="0"/>
                                          </p:stCondLst>
                                        </p:cTn>
                                        <p:tgtEl>
                                          <p:spTgt spid="4"/>
                                        </p:tgtEl>
                                        <p:attrNameLst>
                                          <p:attrName>style.visibility</p:attrName>
                                        </p:attrNameLst>
                                      </p:cBhvr>
                                      <p:to>
                                        <p:strVal val="visible"/>
                                      </p:to>
                                    </p:set>
                                  </p:childTnLst>
                                </p:cTn>
                              </p:par>
                            </p:childTnLst>
                          </p:cTn>
                        </p:par>
                        <p:par>
                          <p:cTn id="15" fill="hold">
                            <p:stCondLst>
                              <p:cond delay="0"/>
                            </p:stCondLst>
                            <p:childTnLst>
                              <p:par>
                                <p:cTn id="16" presetID="42" presetClass="entr" presetSubtype="0" fill="hold" nodeType="afterEffect">
                                  <p:stCondLst>
                                    <p:cond delay="0"/>
                                  </p:stCondLst>
                                  <p:childTnLs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animEffect transition="in" filter="fade">
                                      <p:cBhvr>
                                        <p:cTn id="19" dur="1000"/>
                                        <p:tgtEl>
                                          <p:spTgt spid="6"/>
                                        </p:tgtEl>
                                      </p:cBhvr>
                                    </p:animEffect>
                                    <p:set>
                                      <p:cBhvr>
                                        <p:cTn id="20" dur="1" fill="hold">
                                          <p:stCondLst>
                                            <p:cond delay="0"/>
                                          </p:stCondLst>
                                        </p:cTn>
                                        <p:tgtEl>
                                          <p:spTgt spid="6"/>
                                        </p:tgtEl>
                                        <p:attrNameLst>
                                          <p:attrName>style.visibility</p:attrName>
                                        </p:attrNameLst>
                                      </p:cBhvr>
                                      <p:to>
                                        <p:strVal val="visible"/>
                                      </p:to>
                                    </p:set>
                                  </p:childTnLst>
                                </p:cTn>
                              </p:par>
                            </p:childTnLst>
                          </p:cTn>
                        </p:par>
                        <p:par>
                          <p:cTn id="21" fill="hold">
                            <p:stCondLst>
                              <p:cond delay="0"/>
                            </p:stCondLst>
                            <p:childTnLst>
                              <p:par>
                                <p:cTn id="22" presetID="2" presetClass="entr" presetSubtype="6" fill="hold" nodeType="afterEffect">
                                  <p:stCondLst>
                                    <p:cond delay="0"/>
                                  </p:stCondLst>
                                  <p:childTnLst>
                                    <p:anim calcmode="lin" valueType="num">
                                      <p:cBhvr additive="base">
                                        <p:cTn id="23" dur="1000" fill="hold"/>
                                        <p:tgtEl>
                                          <p:spTgt spid="8"/>
                                        </p:tgtEl>
                                        <p:attrNameLst>
                                          <p:attrName>ppt_x</p:attrName>
                                        </p:attrNameLst>
                                      </p:cBhvr>
                                      <p:tavLst>
                                        <p:tav tm="0">
                                          <p:val>
                                            <p:strVal val="1+#ppt_w/2"/>
                                          </p:val>
                                        </p:tav>
                                        <p:tav tm="100000">
                                          <p:val>
                                            <p:strVal val="#ppt_x"/>
                                          </p:val>
                                        </p:tav>
                                      </p:tavLst>
                                    </p:anim>
                                    <p:anim calcmode="lin" valueType="num">
                                      <p:cBhvr additive="base">
                                        <p:cTn id="24" dur="1000" fill="hold"/>
                                        <p:tgtEl>
                                          <p:spTgt spid="8"/>
                                        </p:tgtEl>
                                        <p:attrNameLst>
                                          <p:attrName>ppt_y</p:attrName>
                                        </p:attrNameLst>
                                      </p:cBhvr>
                                      <p:tavLst>
                                        <p:tav tm="0">
                                          <p:val>
                                            <p:strVal val="1+#ppt_h/2"/>
                                          </p:val>
                                        </p:tav>
                                        <p:tav tm="100000">
                                          <p:val>
                                            <p:strVal val="#ppt_y"/>
                                          </p:val>
                                        </p:tav>
                                      </p:tavLst>
                                    </p:anim>
                                    <p:set>
                                      <p:cBhvr>
                                        <p:cTn id="25" dur="1000" fill="hold">
                                          <p:stCondLst>
                                            <p:cond delay="0"/>
                                          </p:stCondLst>
                                        </p:cTn>
                                        <p:tgtEl>
                                          <p:spTgt spid="8"/>
                                        </p:tgtEl>
                                        <p:attrNameLst>
                                          <p:attrName>style.visibility</p:attrName>
                                        </p:attrNameLst>
                                      </p:cBhvr>
                                      <p:to>
                                        <p:strVal val="visible"/>
                                      </p:to>
                                    </p:set>
                                  </p:childTnLst>
                                </p:cTn>
                              </p:par>
                            </p:childTnLst>
                          </p:cTn>
                        </p:par>
                        <p:par>
                          <p:cTn id="26" fill="hold">
                            <p:stCondLst>
                              <p:cond delay="0"/>
                            </p:stCondLst>
                            <p:childTnLst>
                              <p:par>
                                <p:cTn id="27" presetID="23" presetClass="entr" presetSubtype="16" fill="hold" nodeType="afterEffect">
                                  <p:stCondLst>
                                    <p:cond delay="0"/>
                                  </p:stCondLst>
                                  <p:childTnLs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6767830" y="2012950"/>
            <a:ext cx="3902710" cy="721360"/>
          </a:xfrm>
          <a:prstGeom prst="rect">
            <a:avLst/>
          </a:prstGeom>
          <a:noFill/>
          <a:ln>
            <a:noFill/>
          </a:ln>
        </p:spPr>
        <p:txBody>
          <a:bodyPr vert="horz" lIns="91440" tIns="45720" rIns="91440" bIns="45720" rtlCol="0" anchor="ctr">
            <a:noAutofit/>
          </a:bodyPr>
          <a:lstStyle/>
          <a:p>
            <a:pPr marL="0" marR="0" indent="0" algn="r" fontAlgn="auto">
              <a:lnSpc>
                <a:spcPct val="120000"/>
              </a:lnSpc>
              <a:spcBef>
                <a:spcPct val="0"/>
              </a:spcBef>
              <a:spcAft>
                <a:spcPct val="0"/>
              </a:spcAft>
              <a:buNone/>
              <a:defRPr/>
            </a:pPr>
            <a:r>
              <a:rPr lang="en-US" sz="4800" b="0" i="0" u="none" spc="400" baseline="0">
                <a:ln/>
                <a:solidFill>
                  <a:srgbClr val="F27300"/>
                </a:solidFill>
                <a:effectLst/>
                <a:latin typeface="思源黑体 Medium"/>
                <a:ea typeface="思源黑体 Medium"/>
              </a:rPr>
              <a:t>PART   01     </a:t>
            </a:r>
            <a:endParaRPr lang="en-US" sz="1100"/>
          </a:p>
        </p:txBody>
      </p:sp>
      <p:sp>
        <p:nvSpPr>
          <p:cNvPr id="3" name="TextBox 3"/>
          <p:cNvSpPr txBox="1"/>
          <p:nvPr/>
        </p:nvSpPr>
        <p:spPr>
          <a:xfrm>
            <a:off x="3771265" y="2889885"/>
            <a:ext cx="6899275" cy="2569210"/>
          </a:xfrm>
          <a:prstGeom prst="rect">
            <a:avLst/>
          </a:prstGeom>
          <a:noFill/>
          <a:ln>
            <a:noFill/>
          </a:ln>
        </p:spPr>
        <p:txBody>
          <a:bodyPr vert="horz" lIns="91440" tIns="45720" rIns="91440" bIns="45720" rtlCol="0" anchor="t">
            <a:normAutofit/>
          </a:bodyPr>
          <a:lstStyle/>
          <a:p>
            <a:pPr marL="0" indent="0" algn="r" fontAlgn="auto">
              <a:lnSpc>
                <a:spcPct val="120000"/>
              </a:lnSpc>
              <a:spcBef>
                <a:spcPct val="0"/>
              </a:spcBef>
              <a:buNone/>
              <a:defRPr/>
            </a:pPr>
            <a:r>
              <a:rPr lang="en-US" sz="4800" b="0" i="0" u="none" spc="400" baseline="0">
                <a:solidFill>
                  <a:srgbClr val="F27300"/>
                </a:solidFill>
                <a:latin typeface="思源黑体 Medium"/>
                <a:ea typeface="思源黑体 Medium"/>
              </a:rPr>
              <a:t>Problem and Solution Overview</a:t>
            </a:r>
            <a:endParaRPr lang="en-US" sz="1100"/>
          </a:p>
        </p:txBody>
      </p:sp>
    </p:spTree>
  </p:cSld>
  <p:clrMapOvr>
    <a:masterClrMapping/>
  </p:clrMapOvr>
  <p:transition spd="slow">
    <p:wheel spokes="8"/>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anim calcmode="lin" valueType="num">
                                      <p:cBhvr>
                                        <p:cTn id="6" dur="500" fill="hold"/>
                                        <p:tgtEl>
                                          <p:spTgt spid="2"/>
                                        </p:tgtEl>
                                        <p:attrNameLst>
                                          <p:attrName>ppt_w</p:attrName>
                                        </p:attrNameLst>
                                      </p:cBhvr>
                                      <p:tavLst>
                                        <p:tav tm="0">
                                          <p:val>
                                            <p:fltVal val="0"/>
                                          </p:val>
                                        </p:tav>
                                        <p:tav tm="100000">
                                          <p:val>
                                            <p:strVal val="#ppt_w"/>
                                          </p:val>
                                        </p:tav>
                                      </p:tavLst>
                                    </p:anim>
                                    <p:anim calcmode="lin" valueType="num">
                                      <p:cBhvr>
                                        <p:cTn id="7" dur="500" fill="hold"/>
                                        <p:tgtEl>
                                          <p:spTgt spid="2"/>
                                        </p:tgtEl>
                                        <p:attrNameLst>
                                          <p:attrName>ppt_h</p:attrName>
                                        </p:attrNameLst>
                                      </p:cBhvr>
                                      <p:tavLst>
                                        <p:tav tm="0">
                                          <p:val>
                                            <p:fltVal val="0"/>
                                          </p:val>
                                        </p:tav>
                                        <p:tav tm="100000">
                                          <p:val>
                                            <p:strVal val="#ppt_h"/>
                                          </p:val>
                                        </p:tav>
                                      </p:tavLst>
                                    </p:anim>
                                    <p:set>
                                      <p:cBhvr>
                                        <p:cTn id="8" dur="1" fill="hold">
                                          <p:stCondLst>
                                            <p:cond delay="0"/>
                                          </p:stCondLst>
                                        </p:cTn>
                                        <p:tgtEl>
                                          <p:spTgt spid="2"/>
                                        </p:tgtEl>
                                        <p:attrNameLst>
                                          <p:attrName>style.visibility</p:attrName>
                                        </p:attrNameLst>
                                      </p:cBhvr>
                                      <p:to>
                                        <p:strVal val="visible"/>
                                      </p:to>
                                    </p:set>
                                  </p:childTnLst>
                                </p:cTn>
                              </p:par>
                            </p:childTnLst>
                          </p:cTn>
                        </p:par>
                        <p:par>
                          <p:cTn id="9" fill="hold">
                            <p:stCondLst>
                              <p:cond delay="0"/>
                            </p:stCondLst>
                            <p:childTnLst>
                              <p:par>
                                <p:cTn id="10" presetID="4" presetClass="entr" presetSubtype="32" fill="hold" nodeType="afterEffect">
                                  <p:stCondLst>
                                    <p:cond delay="0"/>
                                  </p:stCondLst>
                                  <p:childTnLst>
                                    <p:animEffect transition="in" filter="box(out)">
                                      <p:cBhvr>
                                        <p:cTn id="11" dur="1000"/>
                                        <p:tgtEl>
                                          <p:spTgt spid="3"/>
                                        </p:tgtEl>
                                      </p:cBhvr>
                                    </p:animEffect>
                                    <p:set>
                                      <p:cBhvr>
                                        <p:cTn id="12" dur="10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95960" y="1483840"/>
            <a:ext cx="5147186" cy="247689"/>
          </a:xfrm>
          <a:prstGeom prst="rect">
            <a:avLst/>
          </a:prstGeom>
          <a:solidFill>
            <a:srgbClr val="F27300"/>
          </a:solidFill>
          <a:ln>
            <a:noFill/>
          </a:ln>
          <a:effectLst>
            <a:outerShdw blurRad="254000" dist="101600" dir="2700000" algn="tl" rotWithShape="0">
              <a:schemeClr val="bg1">
                <a:alpha val="40000"/>
                <a:lumMod val="75000"/>
              </a:schemeClr>
            </a:outerShdw>
          </a:effectLst>
        </p:spPr>
        <p:txBody>
          <a:bodyPr vert="horz" wrap="square" lIns="90170" tIns="46990" rIns="90170" bIns="46990" anchor="ctr">
            <a:normAutofit fontScale="62500" lnSpcReduction="20000"/>
          </a:bodyPr>
          <a:lstStyle/>
          <a:p>
            <a:pPr marL="0" algn="ctr"/>
            <a:endParaRPr/>
          </a:p>
        </p:txBody>
      </p:sp>
      <p:sp>
        <p:nvSpPr>
          <p:cNvPr id="3" name="AutoShape 3"/>
          <p:cNvSpPr/>
          <p:nvPr/>
        </p:nvSpPr>
        <p:spPr>
          <a:xfrm>
            <a:off x="695960" y="1617833"/>
            <a:ext cx="5147186" cy="4624217"/>
          </a:xfrm>
          <a:prstGeom prst="rect">
            <a:avLst/>
          </a:prstGeom>
          <a:solidFill>
            <a:srgbClr val="FFE3CB"/>
          </a:solidFill>
          <a:ln>
            <a:noFill/>
          </a:ln>
          <a:effectLst>
            <a:outerShdw blurRad="254000" dist="101600" dir="2700000" algn="tl" rotWithShape="0">
              <a:schemeClr val="tx1">
                <a:alpha val="15000"/>
                <a:lumMod val="75000"/>
                <a:lumOff val="25000"/>
              </a:schemeClr>
            </a:outerShdw>
          </a:effectLst>
        </p:spPr>
        <p:txBody>
          <a:bodyPr vert="horz" lIns="90170" tIns="46990" rIns="90170" bIns="46990" anchor="ctr">
            <a:normAutofit/>
          </a:bodyPr>
          <a:lstStyle/>
          <a:p>
            <a:pPr marL="0" algn="ctr"/>
            <a:endParaRPr/>
          </a:p>
        </p:txBody>
      </p:sp>
      <p:sp>
        <p:nvSpPr>
          <p:cNvPr id="4" name="AutoShape 4"/>
          <p:cNvSpPr/>
          <p:nvPr/>
        </p:nvSpPr>
        <p:spPr>
          <a:xfrm>
            <a:off x="6348856" y="1494613"/>
            <a:ext cx="5147186" cy="247689"/>
          </a:xfrm>
          <a:prstGeom prst="rect">
            <a:avLst/>
          </a:prstGeom>
          <a:solidFill>
            <a:srgbClr val="F27300"/>
          </a:solidFill>
          <a:ln>
            <a:noFill/>
          </a:ln>
          <a:effectLst>
            <a:outerShdw blurRad="254000" dist="101600" dir="2700000" algn="tl" rotWithShape="0">
              <a:schemeClr val="bg1">
                <a:alpha val="40000"/>
                <a:lumMod val="75000"/>
              </a:schemeClr>
            </a:outerShdw>
          </a:effectLst>
        </p:spPr>
        <p:txBody>
          <a:bodyPr vert="horz" wrap="square" lIns="90170" tIns="46990" rIns="90170" bIns="46990" anchor="ctr">
            <a:normAutofit fontScale="62500" lnSpcReduction="20000"/>
          </a:bodyPr>
          <a:lstStyle/>
          <a:p>
            <a:pPr marL="0" algn="ctr"/>
            <a:endParaRPr/>
          </a:p>
        </p:txBody>
      </p:sp>
      <p:sp>
        <p:nvSpPr>
          <p:cNvPr id="5" name="AutoShape 5"/>
          <p:cNvSpPr/>
          <p:nvPr/>
        </p:nvSpPr>
        <p:spPr>
          <a:xfrm>
            <a:off x="6348856" y="1628606"/>
            <a:ext cx="5147186" cy="4624217"/>
          </a:xfrm>
          <a:prstGeom prst="rect">
            <a:avLst/>
          </a:prstGeom>
          <a:solidFill>
            <a:srgbClr val="FFE3CB"/>
          </a:solidFill>
          <a:ln>
            <a:noFill/>
          </a:ln>
          <a:effectLst>
            <a:outerShdw blurRad="254000" dist="101600" dir="2700000" algn="tl" rotWithShape="0">
              <a:schemeClr val="tx1">
                <a:alpha val="15000"/>
                <a:lumMod val="75000"/>
                <a:lumOff val="25000"/>
              </a:schemeClr>
            </a:outerShdw>
          </a:effectLst>
        </p:spPr>
        <p:txBody>
          <a:bodyPr vert="horz" lIns="90170" tIns="46990" rIns="90170" bIns="46990" anchor="ctr">
            <a:normAutofit/>
          </a:bodyPr>
          <a:lstStyle/>
          <a:p>
            <a:pPr marL="0" algn="ctr"/>
            <a:endParaRPr/>
          </a:p>
        </p:txBody>
      </p:sp>
      <p:sp>
        <p:nvSpPr>
          <p:cNvPr id="6" name="TextBox 6"/>
          <p:cNvSpPr txBox="1"/>
          <p:nvPr/>
        </p:nvSpPr>
        <p:spPr>
          <a:xfrm>
            <a:off x="929640" y="2276859"/>
            <a:ext cx="4825533" cy="3634929"/>
          </a:xfrm>
          <a:prstGeom prst="rect">
            <a:avLst/>
          </a:prstGeom>
          <a:noFill/>
        </p:spPr>
        <p:txBody>
          <a:bodyPr vert="horz" wrap="square" lIns="90170" tIns="46990" rIns="90170" bIns="46990" rtlCol="0" anchor="t">
            <a:noAutofit/>
          </a:bodyPr>
          <a:lstStyle/>
          <a:p>
            <a:pPr>
              <a:lnSpc>
                <a:spcPct val="150000"/>
              </a:lnSpc>
              <a:defRPr/>
            </a:pPr>
            <a:r>
              <a:rPr lang="en-US" sz="1600" dirty="0"/>
              <a:t>Farmers who are new to organic farming often struggle to find reliable equipment at fair prices due to limited experience and dependence on multiple vendors. Unclear pricing and the absence of a trusted rental source make the process costly and confusing, discouraging many from switching to organic farming. This creates a need for a centralized system that provides easy access to farming equipment with transparent pricing and assured availability. </a:t>
            </a:r>
          </a:p>
        </p:txBody>
      </p:sp>
      <p:sp>
        <p:nvSpPr>
          <p:cNvPr id="7" name="AutoShape 7"/>
          <p:cNvSpPr/>
          <p:nvPr/>
        </p:nvSpPr>
        <p:spPr>
          <a:xfrm>
            <a:off x="6597109" y="2327256"/>
            <a:ext cx="4665251" cy="3387744"/>
          </a:xfrm>
          <a:prstGeom prst="rect">
            <a:avLst/>
          </a:prstGeom>
          <a:noFill/>
        </p:spPr>
        <p:txBody>
          <a:bodyPr vert="horz" wrap="square" lIns="90170" tIns="46990" rIns="90170" bIns="46990" anchor="t">
            <a:normAutofit lnSpcReduction="10000"/>
          </a:bodyPr>
          <a:lstStyle/>
          <a:p>
            <a:r>
              <a:rPr lang="en-US" sz="1600" b="1" dirty="0"/>
              <a:t>Functional Requirements:</a:t>
            </a:r>
            <a:endParaRPr lang="en-US" sz="1600" dirty="0"/>
          </a:p>
          <a:p>
            <a:pPr marL="285750" indent="-285750">
              <a:buFont typeface="Arial" panose="020B0604020202020204" pitchFamily="34" charset="0"/>
              <a:buChar char="•"/>
            </a:pPr>
            <a:r>
              <a:rPr lang="en-US" sz="1600" dirty="0"/>
              <a:t>User registration and secure login </a:t>
            </a:r>
          </a:p>
          <a:p>
            <a:pPr marL="285750" indent="-285750">
              <a:buFont typeface="Arial" panose="020B0604020202020204" pitchFamily="34" charset="0"/>
              <a:buChar char="•"/>
            </a:pPr>
            <a:r>
              <a:rPr lang="en-US" sz="1600" dirty="0"/>
              <a:t>Equipment listing and management by owners </a:t>
            </a:r>
          </a:p>
          <a:p>
            <a:pPr marL="285750" indent="-285750">
              <a:buFont typeface="Arial" panose="020B0604020202020204" pitchFamily="34" charset="0"/>
              <a:buChar char="•"/>
            </a:pPr>
            <a:r>
              <a:rPr lang="en-US" sz="1600" dirty="0"/>
              <a:t>Search and filter equipment (type, location, availability) </a:t>
            </a:r>
          </a:p>
          <a:p>
            <a:pPr marL="285750" indent="-285750">
              <a:buFont typeface="Arial" panose="020B0604020202020204" pitchFamily="34" charset="0"/>
              <a:buChar char="•"/>
            </a:pPr>
            <a:r>
              <a:rPr lang="en-US" sz="1600" dirty="0"/>
              <a:t>Equipment booking and reservation system </a:t>
            </a:r>
          </a:p>
          <a:p>
            <a:pPr marL="285750" indent="-285750">
              <a:lnSpc>
                <a:spcPct val="110000"/>
              </a:lnSpc>
              <a:buFont typeface="Arial" panose="020B0604020202020204" pitchFamily="34" charset="0"/>
              <a:buChar char="•"/>
            </a:pPr>
            <a:r>
              <a:rPr lang="en-US" sz="1600" dirty="0"/>
              <a:t>Payment recording and transaction tracking </a:t>
            </a:r>
          </a:p>
          <a:p>
            <a:pPr marL="285750" indent="-285750">
              <a:buFont typeface="Arial" panose="020B0604020202020204" pitchFamily="34" charset="0"/>
              <a:buChar char="•"/>
            </a:pPr>
            <a:r>
              <a:rPr lang="en-US" sz="1600" dirty="0"/>
              <a:t>Ratings and reviews for equipment </a:t>
            </a:r>
          </a:p>
          <a:p>
            <a:pPr marL="285750" indent="-285750">
              <a:buFont typeface="Arial" panose="020B0604020202020204" pitchFamily="34" charset="0"/>
              <a:buChar char="•"/>
            </a:pPr>
            <a:r>
              <a:rPr lang="en-US" sz="1600" dirty="0"/>
              <a:t>Admin control for managing users and system data</a:t>
            </a:r>
          </a:p>
          <a:p>
            <a:endParaRPr lang="en-US" sz="1600" dirty="0"/>
          </a:p>
          <a:p>
            <a:r>
              <a:rPr lang="en-US" sz="1600" b="1" dirty="0"/>
              <a:t>System Features:</a:t>
            </a:r>
            <a:endParaRPr lang="en-US" sz="1600" dirty="0"/>
          </a:p>
          <a:p>
            <a:pPr marL="285750" indent="-285750">
              <a:buFont typeface="Arial" panose="020B0604020202020204" pitchFamily="34" charset="0"/>
              <a:buChar char="•"/>
            </a:pPr>
            <a:r>
              <a:rPr lang="en-US" sz="1600" dirty="0"/>
              <a:t>Web-based platform with database backend </a:t>
            </a:r>
          </a:p>
          <a:p>
            <a:pPr marL="285750" indent="-285750">
              <a:buFont typeface="Arial" panose="020B0604020202020204" pitchFamily="34" charset="0"/>
              <a:buChar char="•"/>
            </a:pPr>
            <a:r>
              <a:rPr lang="en-US" sz="1600" dirty="0"/>
              <a:t>Booking and payment management modules </a:t>
            </a:r>
          </a:p>
          <a:p>
            <a:pPr marL="285750" indent="-285750">
              <a:buFont typeface="Arial" panose="020B0604020202020204" pitchFamily="34" charset="0"/>
              <a:buChar char="•"/>
            </a:pPr>
            <a:r>
              <a:rPr lang="en-US" sz="1600" dirty="0"/>
              <a:t>Dashboard for users and administrators</a:t>
            </a:r>
          </a:p>
          <a:p>
            <a:endParaRPr lang="en-US" sz="1600" dirty="0"/>
          </a:p>
        </p:txBody>
      </p:sp>
      <p:sp>
        <p:nvSpPr>
          <p:cNvPr id="8" name="TextBox 8"/>
          <p:cNvSpPr txBox="1"/>
          <p:nvPr/>
        </p:nvSpPr>
        <p:spPr>
          <a:xfrm>
            <a:off x="6597109" y="1746508"/>
            <a:ext cx="4320000" cy="446755"/>
          </a:xfrm>
          <a:prstGeom prst="rect">
            <a:avLst/>
          </a:prstGeom>
          <a:noFill/>
        </p:spPr>
        <p:txBody>
          <a:bodyPr vert="horz" wrap="square" lIns="90170" tIns="46990" rIns="90170" bIns="46990" rtlCol="0" anchor="t">
            <a:normAutofit/>
          </a:bodyPr>
          <a:lstStyle/>
          <a:p>
            <a:pPr marL="0" indent="0" algn="l" fontAlgn="auto">
              <a:lnSpc>
                <a:spcPct val="110000"/>
              </a:lnSpc>
              <a:defRPr/>
            </a:pPr>
            <a:r>
              <a:rPr lang="en-US" sz="2000" b="1" i="0" u="none" baseline="0" dirty="0">
                <a:solidFill>
                  <a:srgbClr val="F27300"/>
                </a:solidFill>
                <a:latin typeface="思源黑体 Normal"/>
                <a:ea typeface="思源黑体 Normal"/>
              </a:rPr>
              <a:t>System Requirements</a:t>
            </a:r>
            <a:endParaRPr lang="en-US" sz="1100" dirty="0"/>
          </a:p>
        </p:txBody>
      </p:sp>
      <p:sp>
        <p:nvSpPr>
          <p:cNvPr id="9" name="TextBox 9"/>
          <p:cNvSpPr txBox="1"/>
          <p:nvPr/>
        </p:nvSpPr>
        <p:spPr>
          <a:xfrm>
            <a:off x="929640" y="1742302"/>
            <a:ext cx="4320000" cy="450961"/>
          </a:xfrm>
          <a:prstGeom prst="rect">
            <a:avLst/>
          </a:prstGeom>
          <a:noFill/>
        </p:spPr>
        <p:txBody>
          <a:bodyPr vert="horz" wrap="square" lIns="90170" tIns="46990" rIns="90170" bIns="46990" rtlCol="0" anchor="t">
            <a:normAutofit/>
          </a:bodyPr>
          <a:lstStyle/>
          <a:p>
            <a:pPr marL="0" indent="0" algn="l" fontAlgn="auto">
              <a:lnSpc>
                <a:spcPct val="110000"/>
              </a:lnSpc>
              <a:defRPr/>
            </a:pPr>
            <a:r>
              <a:rPr lang="en-US" sz="2000" b="1" i="0" u="none" baseline="0" dirty="0">
                <a:solidFill>
                  <a:srgbClr val="F27300"/>
                </a:solidFill>
                <a:latin typeface="思源黑体 Normal"/>
                <a:ea typeface="思源黑体 Normal"/>
              </a:rPr>
              <a:t>Challenges in Equipment Rental</a:t>
            </a:r>
            <a:endParaRPr lang="en-US" sz="1100" dirty="0"/>
          </a:p>
        </p:txBody>
      </p:sp>
      <p:sp>
        <p:nvSpPr>
          <p:cNvPr id="10" name="Freeform 10"/>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F27300"/>
          </a:solidFill>
        </p:spPr>
      </p:sp>
      <p:sp>
        <p:nvSpPr>
          <p:cNvPr id="11" name="TextBox 11"/>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a:ln/>
                <a:solidFill>
                  <a:srgbClr val="F27300"/>
                </a:solidFill>
                <a:latin typeface="思源黑体 Normal"/>
                <a:ea typeface="思源黑体 Normal"/>
              </a:rPr>
              <a:t>Problem Identification</a:t>
            </a:r>
            <a:endParaRPr lang="en-US" sz="110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8" presetClass="entr" presetSubtype="0" fill="hold" nodeType="afterEffect">
                                  <p:stCondLst>
                                    <p:cond delay="0"/>
                                  </p:stCondLst>
                                  <p:childTnLst>
                                    <p:anim calcmode="lin" valueType="num">
                                      <p:cBhvr>
                                        <p:cTn id="6" dur="1000" fill="hold"/>
                                        <p:tgtEl>
                                          <p:spTgt spid="11"/>
                                        </p:tgtEl>
                                        <p:attrNameLst>
                                          <p:attrName>ppt_w</p:attrName>
                                        </p:attrNameLst>
                                      </p:cBhvr>
                                      <p:tavLst>
                                        <p:tav tm="0">
                                          <p:val>
                                            <p:strVal val="#ppt_w*2.5"/>
                                          </p:val>
                                        </p:tav>
                                        <p:tav tm="100000">
                                          <p:val>
                                            <p:strVal val="#ppt_w"/>
                                          </p:val>
                                        </p:tav>
                                      </p:tavLst>
                                    </p:anim>
                                    <p:anim calcmode="lin" valueType="num">
                                      <p:cBhvr>
                                        <p:cTn id="7" dur="1000" fill="hold"/>
                                        <p:tgtEl>
                                          <p:spTgt spid="11"/>
                                        </p:tgtEl>
                                        <p:attrNameLst>
                                          <p:attrName>ppt_h</p:attrName>
                                        </p:attrNameLst>
                                      </p:cBhvr>
                                      <p:tavLst>
                                        <p:tav tm="0">
                                          <p:val>
                                            <p:strVal val="#ppt_h*0.01"/>
                                          </p:val>
                                        </p:tav>
                                        <p:tav tm="100000">
                                          <p:val>
                                            <p:strVal val="#ppt_h"/>
                                          </p:val>
                                        </p:tav>
                                      </p:tavLst>
                                    </p:anim>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h+1"/>
                                          </p:val>
                                        </p:tav>
                                        <p:tav tm="100000">
                                          <p:val>
                                            <p:strVal val="#ppt_y"/>
                                          </p:val>
                                        </p:tav>
                                      </p:tavLst>
                                    </p:anim>
                                    <p:animEffect transition="in" filter="fade">
                                      <p:cBhvr>
                                        <p:cTn id="10" dur="1000"/>
                                        <p:tgtEl>
                                          <p:spTgt spid="11"/>
                                        </p:tgtEl>
                                      </p:cBhvr>
                                    </p:animEffect>
                                    <p:set>
                                      <p:cBhvr>
                                        <p:cTn id="11" dur="1000" fill="hold">
                                          <p:stCondLst>
                                            <p:cond delay="0"/>
                                          </p:stCondLst>
                                        </p:cTn>
                                        <p:tgtEl>
                                          <p:spTgt spid="11"/>
                                        </p:tgtEl>
                                        <p:attrNameLst>
                                          <p:attrName>style.visibility</p:attrName>
                                        </p:attrNameLst>
                                      </p:cBhvr>
                                      <p:to>
                                        <p:strVal val="visible"/>
                                      </p:to>
                                    </p:set>
                                  </p:childTnLst>
                                </p:cTn>
                              </p:par>
                            </p:childTnLst>
                          </p:cTn>
                        </p:par>
                        <p:par>
                          <p:cTn id="12" fill="hold">
                            <p:stCondLst>
                              <p:cond delay="0"/>
                            </p:stCondLst>
                            <p:childTnLst>
                              <p:par>
                                <p:cTn id="13" presetID="5" presetClass="entr" presetSubtype="5" fill="hold" nodeType="afterEffect">
                                  <p:stCondLst>
                                    <p:cond delay="0"/>
                                  </p:stCondLst>
                                  <p:childTnLst>
                                    <p:animEffect transition="in" filter="checkerboard(down)">
                                      <p:cBhvr>
                                        <p:cTn id="14" dur="1000"/>
                                        <p:tgtEl>
                                          <p:spTgt spid="9"/>
                                        </p:tgtEl>
                                      </p:cBhvr>
                                    </p:animEffect>
                                    <p:set>
                                      <p:cBhvr>
                                        <p:cTn id="15" dur="1000" fill="hold">
                                          <p:stCondLst>
                                            <p:cond delay="0"/>
                                          </p:stCondLst>
                                        </p:cTn>
                                        <p:tgtEl>
                                          <p:spTgt spid="9"/>
                                        </p:tgtEl>
                                        <p:attrNameLst>
                                          <p:attrName>style.visibility</p:attrName>
                                        </p:attrNameLst>
                                      </p:cBhvr>
                                      <p:to>
                                        <p:strVal val="visible"/>
                                      </p:to>
                                    </p:set>
                                  </p:childTnLst>
                                </p:cTn>
                              </p:par>
                            </p:childTnLst>
                          </p:cTn>
                        </p:par>
                        <p:par>
                          <p:cTn id="16" fill="hold">
                            <p:stCondLst>
                              <p:cond delay="0"/>
                            </p:stCondLst>
                            <p:childTnLst>
                              <p:par>
                                <p:cTn id="17" presetID="2" presetClass="entr" presetSubtype="6" fill="hold" nodeType="afterEffect">
                                  <p:stCondLst>
                                    <p:cond delay="0"/>
                                  </p:stCondLst>
                                  <p:childTnLst>
                                    <p:anim calcmode="lin" valueType="num">
                                      <p:cBhvr additive="base">
                                        <p:cTn id="18" dur="1000" fill="hold"/>
                                        <p:tgtEl>
                                          <p:spTgt spid="6"/>
                                        </p:tgtEl>
                                        <p:attrNameLst>
                                          <p:attrName>ppt_x</p:attrName>
                                        </p:attrNameLst>
                                      </p:cBhvr>
                                      <p:tavLst>
                                        <p:tav tm="0">
                                          <p:val>
                                            <p:strVal val="1+#ppt_w/2"/>
                                          </p:val>
                                        </p:tav>
                                        <p:tav tm="100000">
                                          <p:val>
                                            <p:strVal val="#ppt_x"/>
                                          </p:val>
                                        </p:tav>
                                      </p:tavLst>
                                    </p:anim>
                                    <p:anim calcmode="lin" valueType="num">
                                      <p:cBhvr additive="base">
                                        <p:cTn id="19" dur="1000" fill="hold"/>
                                        <p:tgtEl>
                                          <p:spTgt spid="6"/>
                                        </p:tgtEl>
                                        <p:attrNameLst>
                                          <p:attrName>ppt_y</p:attrName>
                                        </p:attrNameLst>
                                      </p:cBhvr>
                                      <p:tavLst>
                                        <p:tav tm="0">
                                          <p:val>
                                            <p:strVal val="1+#ppt_h/2"/>
                                          </p:val>
                                        </p:tav>
                                        <p:tav tm="100000">
                                          <p:val>
                                            <p:strVal val="#ppt_y"/>
                                          </p:val>
                                        </p:tav>
                                      </p:tavLst>
                                    </p:anim>
                                    <p:set>
                                      <p:cBhvr>
                                        <p:cTn id="20" dur="1000" fill="hold">
                                          <p:stCondLst>
                                            <p:cond delay="0"/>
                                          </p:stCondLst>
                                        </p:cTn>
                                        <p:tgtEl>
                                          <p:spTgt spid="6"/>
                                        </p:tgtEl>
                                        <p:attrNameLst>
                                          <p:attrName>style.visibility</p:attrName>
                                        </p:attrNameLst>
                                      </p:cBhvr>
                                      <p:to>
                                        <p:strVal val="visible"/>
                                      </p:to>
                                    </p:set>
                                  </p:childTnLst>
                                </p:cTn>
                              </p:par>
                            </p:childTnLst>
                          </p:cTn>
                        </p:par>
                        <p:par>
                          <p:cTn id="21" fill="hold">
                            <p:stCondLst>
                              <p:cond delay="0"/>
                            </p:stCondLst>
                            <p:childTnLst>
                              <p:par>
                                <p:cTn id="22" presetID="3" presetClass="entr" presetSubtype="10" fill="hold" nodeType="afterEffect">
                                  <p:stCondLst>
                                    <p:cond delay="0"/>
                                  </p:stCondLst>
                                  <p:childTnLst>
                                    <p:animEffect transition="in" filter="blinds(horizontal)">
                                      <p:cBhvr>
                                        <p:cTn id="23" dur="1000"/>
                                        <p:tgtEl>
                                          <p:spTgt spid="8"/>
                                        </p:tgtEl>
                                      </p:cBhvr>
                                    </p:animEffect>
                                    <p:set>
                                      <p:cBhvr>
                                        <p:cTn id="24" dur="1000" fill="hold">
                                          <p:stCondLst>
                                            <p:cond delay="0"/>
                                          </p:stCondLst>
                                        </p:cTn>
                                        <p:tgtEl>
                                          <p:spTgt spid="8"/>
                                        </p:tgtEl>
                                        <p:attrNameLst>
                                          <p:attrName>style.visibility</p:attrName>
                                        </p:attrNameLst>
                                      </p:cBhvr>
                                      <p:to>
                                        <p:strVal val="visible"/>
                                      </p:to>
                                    </p:set>
                                  </p:childTnLst>
                                </p:cTn>
                              </p:par>
                            </p:childTnLst>
                          </p:cTn>
                        </p:par>
                        <p:par>
                          <p:cTn id="25" fill="hold">
                            <p:stCondLst>
                              <p:cond delay="0"/>
                            </p:stCondLst>
                            <p:childTnLst>
                              <p:par>
                                <p:cTn id="26" presetID="2" presetClass="entr" presetSubtype="4" fill="hold" nodeType="afterEffect">
                                  <p:stCondLst>
                                    <p:cond delay="0"/>
                                  </p:stCondLst>
                                  <p:childTnLst>
                                    <p:anim calcmode="lin" valueType="num">
                                      <p:cBhvr additive="base">
                                        <p:cTn id="27" dur="1000" fill="hold"/>
                                        <p:tgtEl>
                                          <p:spTgt spid="7"/>
                                        </p:tgtEl>
                                        <p:attrNameLst>
                                          <p:attrName>ppt_x</p:attrName>
                                        </p:attrNameLst>
                                      </p:cBhvr>
                                      <p:tavLst>
                                        <p:tav tm="0">
                                          <p:val>
                                            <p:strVal val="#ppt_x"/>
                                          </p:val>
                                        </p:tav>
                                        <p:tav tm="100000">
                                          <p:val>
                                            <p:strVal val="#ppt_x"/>
                                          </p:val>
                                        </p:tav>
                                      </p:tavLst>
                                    </p:anim>
                                    <p:anim calcmode="lin" valueType="num">
                                      <p:cBhvr additive="base">
                                        <p:cTn id="28" dur="1000" fill="hold"/>
                                        <p:tgtEl>
                                          <p:spTgt spid="7"/>
                                        </p:tgtEl>
                                        <p:attrNameLst>
                                          <p:attrName>ppt_y</p:attrName>
                                        </p:attrNameLst>
                                      </p:cBhvr>
                                      <p:tavLst>
                                        <p:tav tm="0">
                                          <p:val>
                                            <p:strVal val="1+#ppt_h/2"/>
                                          </p:val>
                                        </p:tav>
                                        <p:tav tm="100000">
                                          <p:val>
                                            <p:strVal val="#ppt_y"/>
                                          </p:val>
                                        </p:tav>
                                      </p:tavLst>
                                    </p:anim>
                                    <p:set>
                                      <p:cBhvr>
                                        <p:cTn id="29" dur="1000"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6767830" y="2012950"/>
            <a:ext cx="3902710" cy="721360"/>
          </a:xfrm>
          <a:prstGeom prst="rect">
            <a:avLst/>
          </a:prstGeom>
          <a:noFill/>
          <a:ln>
            <a:noFill/>
          </a:ln>
        </p:spPr>
        <p:txBody>
          <a:bodyPr vert="horz" lIns="91440" tIns="45720" rIns="91440" bIns="45720" rtlCol="0" anchor="ctr">
            <a:noAutofit/>
          </a:bodyPr>
          <a:lstStyle/>
          <a:p>
            <a:pPr marL="0" marR="0" indent="0" algn="r" fontAlgn="auto">
              <a:lnSpc>
                <a:spcPct val="120000"/>
              </a:lnSpc>
              <a:spcBef>
                <a:spcPct val="0"/>
              </a:spcBef>
              <a:spcAft>
                <a:spcPct val="0"/>
              </a:spcAft>
              <a:buNone/>
              <a:defRPr/>
            </a:pPr>
            <a:r>
              <a:rPr lang="en-US" sz="4800" b="0" i="0" u="none" spc="400" baseline="0">
                <a:ln/>
                <a:solidFill>
                  <a:srgbClr val="F27300"/>
                </a:solidFill>
                <a:effectLst/>
                <a:latin typeface="思源黑体 Medium"/>
                <a:ea typeface="思源黑体 Medium"/>
              </a:rPr>
              <a:t>PART   02     </a:t>
            </a:r>
            <a:endParaRPr lang="en-US" sz="1100"/>
          </a:p>
        </p:txBody>
      </p:sp>
      <p:sp>
        <p:nvSpPr>
          <p:cNvPr id="3" name="TextBox 3"/>
          <p:cNvSpPr txBox="1"/>
          <p:nvPr/>
        </p:nvSpPr>
        <p:spPr>
          <a:xfrm>
            <a:off x="3771265" y="2889885"/>
            <a:ext cx="6899275" cy="2569210"/>
          </a:xfrm>
          <a:prstGeom prst="rect">
            <a:avLst/>
          </a:prstGeom>
          <a:noFill/>
          <a:ln>
            <a:noFill/>
          </a:ln>
        </p:spPr>
        <p:txBody>
          <a:bodyPr vert="horz" lIns="91440" tIns="45720" rIns="91440" bIns="45720" rtlCol="0" anchor="t">
            <a:normAutofit/>
          </a:bodyPr>
          <a:lstStyle/>
          <a:p>
            <a:pPr marL="0" indent="0" algn="r" fontAlgn="auto">
              <a:lnSpc>
                <a:spcPct val="120000"/>
              </a:lnSpc>
              <a:spcBef>
                <a:spcPct val="0"/>
              </a:spcBef>
              <a:buNone/>
              <a:defRPr/>
            </a:pPr>
            <a:r>
              <a:rPr lang="en-US" sz="4800" b="0" i="0" u="none" spc="400" baseline="0">
                <a:solidFill>
                  <a:srgbClr val="F27300"/>
                </a:solidFill>
                <a:latin typeface="思源黑体 Medium"/>
                <a:ea typeface="思源黑体 Medium"/>
              </a:rPr>
              <a:t>System Architecture and Design</a:t>
            </a:r>
            <a:endParaRPr lang="en-US" sz="110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8" presetClass="entr" presetSubtype="0" fill="hold" nodeType="afterEffect">
                                  <p:stCondLst>
                                    <p:cond delay="0"/>
                                  </p:stCondLst>
                                  <p:childTnLst>
                                    <p:anim calcmode="lin" valueType="num">
                                      <p:cBhvr>
                                        <p:cTn id="6" dur="1000" fill="hold"/>
                                        <p:tgtEl>
                                          <p:spTgt spid="2"/>
                                        </p:tgtEl>
                                        <p:attrNameLst>
                                          <p:attrName>ppt_w</p:attrName>
                                        </p:attrNameLst>
                                      </p:cBhvr>
                                      <p:tavLst>
                                        <p:tav tm="0">
                                          <p:val>
                                            <p:strVal val="#ppt_w*2.5"/>
                                          </p:val>
                                        </p:tav>
                                        <p:tav tm="100000">
                                          <p:val>
                                            <p:strVal val="#ppt_w"/>
                                          </p:val>
                                        </p:tav>
                                      </p:tavLst>
                                    </p:anim>
                                    <p:anim calcmode="lin" valueType="num">
                                      <p:cBhvr>
                                        <p:cTn id="7" dur="1000" fill="hold"/>
                                        <p:tgtEl>
                                          <p:spTgt spid="2"/>
                                        </p:tgtEl>
                                        <p:attrNameLst>
                                          <p:attrName>ppt_h</p:attrName>
                                        </p:attrNameLst>
                                      </p:cBhvr>
                                      <p:tavLst>
                                        <p:tav tm="0">
                                          <p:val>
                                            <p:strVal val="#ppt_h*0.01"/>
                                          </p:val>
                                        </p:tav>
                                        <p:tav tm="100000">
                                          <p:val>
                                            <p:strVal val="#ppt_h"/>
                                          </p:val>
                                        </p:tav>
                                      </p:tavLst>
                                    </p:anim>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h+1"/>
                                          </p:val>
                                        </p:tav>
                                        <p:tav tm="100000">
                                          <p:val>
                                            <p:strVal val="#ppt_y"/>
                                          </p:val>
                                        </p:tav>
                                      </p:tavLst>
                                    </p:anim>
                                    <p:animEffect transition="in" filter="fade">
                                      <p:cBhvr>
                                        <p:cTn id="10" dur="1000"/>
                                        <p:tgtEl>
                                          <p:spTgt spid="2"/>
                                        </p:tgtEl>
                                      </p:cBhvr>
                                    </p:animEffect>
                                    <p:set>
                                      <p:cBhvr>
                                        <p:cTn id="11" dur="1000" fill="hold">
                                          <p:stCondLst>
                                            <p:cond delay="0"/>
                                          </p:stCondLst>
                                        </p:cTn>
                                        <p:tgtEl>
                                          <p:spTgt spid="2"/>
                                        </p:tgtEl>
                                        <p:attrNameLst>
                                          <p:attrName>style.visibility</p:attrName>
                                        </p:attrNameLst>
                                      </p:cBhvr>
                                      <p:to>
                                        <p:strVal val="visible"/>
                                      </p:to>
                                    </p:set>
                                  </p:childTnLst>
                                </p:cTn>
                              </p:par>
                            </p:childTnLst>
                          </p:cTn>
                        </p:par>
                        <p:par>
                          <p:cTn id="12" fill="hold">
                            <p:stCondLst>
                              <p:cond delay="0"/>
                            </p:stCondLst>
                            <p:childTnLst>
                              <p:par>
                                <p:cTn id="13" presetID="41" presetClass="entr" presetSubtype="0" fill="hold" grpId="0" nodeType="afterEffect">
                                  <p:stCondLst>
                                    <p:cond delay="0"/>
                                  </p:stCondLst>
                                  <p:iterate type="lt">
                                    <p:tmPct val="10000"/>
                                  </p:iterate>
                                  <p:childTnLst>
                                    <p:anim calcmode="lin" valueType="num">
                                      <p:cBhvr>
                                        <p:cTn id="14" dur="10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5" dur="1000" fill="hold"/>
                                        <p:tgtEl>
                                          <p:spTgt spid="3"/>
                                        </p:tgtEl>
                                        <p:attrNameLst>
                                          <p:attrName>ppt_y</p:attrName>
                                        </p:attrNameLst>
                                      </p:cBhvr>
                                      <p:tavLst>
                                        <p:tav tm="0">
                                          <p:val>
                                            <p:strVal val="#ppt_y"/>
                                          </p:val>
                                        </p:tav>
                                        <p:tav tm="100000">
                                          <p:val>
                                            <p:strVal val="#ppt_y"/>
                                          </p:val>
                                        </p:tav>
                                      </p:tavLst>
                                    </p:anim>
                                    <p:anim calcmode="lin" valueType="num">
                                      <p:cBhvr>
                                        <p:cTn id="16" dur="10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7" dur="10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8" dur="1000" tmFilter="0,0; .5, 1; 1, 1"/>
                                        <p:tgtEl>
                                          <p:spTgt spid="3"/>
                                        </p:tgtEl>
                                      </p:cBhvr>
                                    </p:animEffect>
                                    <p:set>
                                      <p:cBhvr>
                                        <p:cTn id="19" dur="10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5DEC6C-1B77-F008-72F3-6E658B4901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1361" y="1594802"/>
            <a:ext cx="6180639" cy="4120198"/>
          </a:xfrm>
          <a:prstGeom prst="rect">
            <a:avLst/>
          </a:prstGeom>
        </p:spPr>
      </p:pic>
      <p:sp>
        <p:nvSpPr>
          <p:cNvPr id="2" name="TextBox 2"/>
          <p:cNvSpPr txBox="1"/>
          <p:nvPr/>
        </p:nvSpPr>
        <p:spPr>
          <a:xfrm>
            <a:off x="704830" y="1159181"/>
            <a:ext cx="5472266" cy="5307864"/>
          </a:xfrm>
          <a:prstGeom prst="rect">
            <a:avLst/>
          </a:prstGeom>
        </p:spPr>
        <p:txBody>
          <a:bodyPr vert="horz" wrap="square" lIns="90170" tIns="46990" rIns="90170" bIns="46990" rtlCol="0" anchor="t">
            <a:normAutofit lnSpcReduction="10000"/>
          </a:bodyPr>
          <a:lstStyle/>
          <a:p>
            <a:r>
              <a:rPr lang="en-US" sz="1600" dirty="0"/>
              <a:t>The ER diagram represents the structure of the </a:t>
            </a:r>
            <a:r>
              <a:rPr lang="en-US" sz="1600" dirty="0" err="1"/>
              <a:t>AgroRent</a:t>
            </a:r>
            <a:r>
              <a:rPr lang="en-US" sz="1600" dirty="0"/>
              <a:t> system and shows how different entities are interconnected. </a:t>
            </a:r>
          </a:p>
          <a:p>
            <a:endParaRPr lang="en-US" sz="1600" dirty="0"/>
          </a:p>
          <a:p>
            <a:pPr marL="285750" indent="-285750">
              <a:buFont typeface="Wingdings" panose="05000000000000000000" pitchFamily="2" charset="2"/>
              <a:buChar char="Ø"/>
            </a:pPr>
            <a:r>
              <a:rPr lang="en-US" sz="1600" dirty="0"/>
              <a:t>The </a:t>
            </a:r>
            <a:r>
              <a:rPr lang="en-US" sz="1600" b="1" dirty="0"/>
              <a:t>Users entity acts as the base</a:t>
            </a:r>
            <a:r>
              <a:rPr lang="en-US" sz="1600" dirty="0"/>
              <a:t>, with Farmer, </a:t>
            </a:r>
            <a:r>
              <a:rPr lang="en-US" sz="1600" dirty="0" err="1"/>
              <a:t>EquipmentOwner</a:t>
            </a:r>
            <a:r>
              <a:rPr lang="en-US" sz="1600" dirty="0"/>
              <a:t>, and Administrator derived using inheritance for role-based access.</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An </a:t>
            </a:r>
            <a:r>
              <a:rPr lang="en-US" sz="1600" b="1" dirty="0" err="1"/>
              <a:t>EquipmentOwner</a:t>
            </a:r>
            <a:r>
              <a:rPr lang="en-US" sz="1600" b="1" dirty="0"/>
              <a:t> can manage multiple equipment</a:t>
            </a:r>
            <a:r>
              <a:rPr lang="en-US" sz="1600" dirty="0"/>
              <a:t>, forming a one-to-many relationship.</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The </a:t>
            </a:r>
            <a:r>
              <a:rPr lang="en-US" sz="1600" b="1" dirty="0"/>
              <a:t>Booking entity resolves the many-to-many relationship</a:t>
            </a:r>
            <a:r>
              <a:rPr lang="en-US" sz="1600" dirty="0"/>
              <a:t> between Farmer and Equipment, allowing multiple bookings from both sides.</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Each </a:t>
            </a:r>
            <a:r>
              <a:rPr lang="en-US" sz="1600" b="1" dirty="0"/>
              <a:t>Booking is linked to exactly one Payment</a:t>
            </a:r>
            <a:r>
              <a:rPr lang="en-US" sz="1600" dirty="0"/>
              <a:t>, ensuring proper transaction tracking.</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The </a:t>
            </a:r>
            <a:r>
              <a:rPr lang="en-US" sz="1600" b="1" dirty="0"/>
              <a:t>Review entity stores ratings and feedback</a:t>
            </a:r>
            <a:r>
              <a:rPr lang="en-US" sz="1600" dirty="0"/>
              <a:t>, creating relationships between farmers and equipment.</a:t>
            </a:r>
          </a:p>
          <a:p>
            <a:endParaRPr lang="en-US" sz="1600" dirty="0"/>
          </a:p>
          <a:p>
            <a:r>
              <a:rPr lang="en-US" sz="1600" dirty="0"/>
              <a:t>Overall, the ER model ensures efficient data organization and maintains integrity through well-defined relationships.</a:t>
            </a:r>
          </a:p>
        </p:txBody>
      </p:sp>
      <p:sp>
        <p:nvSpPr>
          <p:cNvPr id="4" name="Freeform 4"/>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F27300"/>
          </a:solidFill>
        </p:spPr>
      </p:sp>
      <p:sp>
        <p:nvSpPr>
          <p:cNvPr id="5" name="TextBox 5"/>
          <p:cNvSpPr txBox="1"/>
          <p:nvPr/>
        </p:nvSpPr>
        <p:spPr>
          <a:xfrm>
            <a:off x="704830" y="325448"/>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F27300"/>
                </a:solidFill>
                <a:latin typeface="思源黑体 Normal"/>
                <a:ea typeface="思源黑体 Normal"/>
              </a:rPr>
              <a:t>ER Diagram</a:t>
            </a:r>
            <a:endParaRPr lang="en-US" sz="1100" dirty="0"/>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anim calcmode="lin" valueType="num">
                                      <p:cBhvr>
                                        <p:cTn id="6" dur="1000" fill="hold"/>
                                        <p:tgtEl>
                                          <p:spTgt spid="5"/>
                                        </p:tgtEl>
                                        <p:attrNameLst>
                                          <p:attrName>ppt_x</p:attrName>
                                        </p:attrNameLst>
                                      </p:cBhvr>
                                      <p:tavLst>
                                        <p:tav tm="0">
                                          <p:val>
                                            <p:strVal val="#ppt_x-.1"/>
                                          </p:val>
                                        </p:tav>
                                        <p:tav tm="100000">
                                          <p:val>
                                            <p:strVal val="#ppt_x"/>
                                          </p:val>
                                        </p:tav>
                                      </p:tavLst>
                                    </p:anim>
                                    <p:anim calcmode="lin" valueType="num">
                                      <p:cBhvr>
                                        <p:cTn id="7" dur="1000" fill="hold"/>
                                        <p:tgtEl>
                                          <p:spTgt spid="5"/>
                                        </p:tgtEl>
                                        <p:attrNameLst>
                                          <p:attrName>ppt_y</p:attrName>
                                        </p:attrNameLst>
                                      </p:cBhvr>
                                      <p:tavLst>
                                        <p:tav tm="0">
                                          <p:val>
                                            <p:strVal val="#ppt_y"/>
                                          </p:val>
                                        </p:tav>
                                        <p:tav tm="100000">
                                          <p:val>
                                            <p:strVal val="#ppt_y"/>
                                          </p:val>
                                        </p:tav>
                                      </p:tavLst>
                                    </p:anim>
                                    <p:animEffect transition="in" filter="fade">
                                      <p:cBhvr>
                                        <p:cTn id="8" dur="1000"/>
                                        <p:tgtEl>
                                          <p:spTgt spid="5"/>
                                        </p:tgtEl>
                                      </p:cBhvr>
                                    </p:animEffect>
                                    <p:set>
                                      <p:cBhvr>
                                        <p:cTn id="9" dur="1" fill="hold">
                                          <p:stCondLst>
                                            <p:cond delay="0"/>
                                          </p:stCondLst>
                                        </p:cTn>
                                        <p:tgtEl>
                                          <p:spTgt spid="5"/>
                                        </p:tgtEl>
                                        <p:attrNameLst>
                                          <p:attrName>style.visibility</p:attrName>
                                        </p:attrNameLst>
                                      </p:cBhvr>
                                      <p:to>
                                        <p:strVal val="visible"/>
                                      </p:to>
                                    </p:set>
                                  </p:childTnLst>
                                </p:cTn>
                              </p:par>
                            </p:childTnLst>
                          </p:cTn>
                        </p:par>
                        <p:par>
                          <p:cTn id="10" fill="hold">
                            <p:stCondLst>
                              <p:cond delay="1800"/>
                            </p:stCondLst>
                            <p:childTnLst>
                              <p:par>
                                <p:cTn id="11" presetID="17" presetClass="entr" presetSubtype="8" fill="hold" nodeType="afterEffect">
                                  <p:stCondLst>
                                    <p:cond delay="0"/>
                                  </p:stCondLst>
                                  <p:childTnLst>
                                    <p:anim calcmode="lin" valueType="num">
                                      <p:cBhvr additive="base">
                                        <p:cTn id="12" dur="500" fill="hold"/>
                                        <p:tgtEl>
                                          <p:spTgt spid="2"/>
                                        </p:tgtEl>
                                        <p:attrNameLst>
                                          <p:attrName>ppt_x</p:attrName>
                                        </p:attrNameLst>
                                      </p:cBhvr>
                                      <p:tavLst>
                                        <p:tav tm="0">
                                          <p:val>
                                            <p:strVal val="#ppt_x-#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anim calcmode="lin" valueType="num">
                                      <p:cBhvr additive="base">
                                        <p:cTn id="14" dur="500" fill="hold"/>
                                        <p:tgtEl>
                                          <p:spTgt spid="2"/>
                                        </p:tgtEl>
                                        <p:attrNameLst>
                                          <p:attrName>ppt_w</p:attrName>
                                        </p:attrNameLst>
                                      </p:cBhvr>
                                      <p:tavLst>
                                        <p:tav tm="0">
                                          <p:val>
                                            <p:fltVal val="0"/>
                                          </p:val>
                                        </p:tav>
                                        <p:tav tm="100000">
                                          <p:val>
                                            <p:strVal val="#ppt_w"/>
                                          </p:val>
                                        </p:tav>
                                      </p:tavLst>
                                    </p:anim>
                                    <p:anim calcmode="lin" valueType="num">
                                      <p:cBhvr additive="base">
                                        <p:cTn id="15" dur="500" fill="hold"/>
                                        <p:tgtEl>
                                          <p:spTgt spid="2"/>
                                        </p:tgtEl>
                                        <p:attrNameLst>
                                          <p:attrName>ppt_h</p:attrName>
                                        </p:attrNameLst>
                                      </p:cBhvr>
                                      <p:tavLst>
                                        <p:tav tm="0">
                                          <p:val>
                                            <p:strVal val="#ppt_h"/>
                                          </p:val>
                                        </p:tav>
                                        <p:tav tm="100000">
                                          <p:val>
                                            <p:strVal val="#ppt_h"/>
                                          </p:val>
                                        </p:tav>
                                      </p:tavLst>
                                    </p:anim>
                                    <p:set>
                                      <p:cBhvr additive="base">
                                        <p:cTn id="16" dur="50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3" name="TextBox 13"/>
          <p:cNvSpPr txBox="1"/>
          <p:nvPr/>
        </p:nvSpPr>
        <p:spPr>
          <a:xfrm>
            <a:off x="605420" y="1179830"/>
            <a:ext cx="5086350" cy="4103370"/>
          </a:xfrm>
          <a:prstGeom prst="rect">
            <a:avLst/>
          </a:prstGeom>
        </p:spPr>
        <p:txBody>
          <a:bodyPr vert="horz" wrap="square" lIns="90170" tIns="46990" rIns="90170" bIns="46990" rtlCol="0" anchor="t">
            <a:normAutofit/>
          </a:bodyPr>
          <a:lstStyle/>
          <a:p>
            <a:r>
              <a:rPr lang="en-US" sz="1600" dirty="0"/>
              <a:t>UML diagrams describe both the structure and behavior of the system. </a:t>
            </a:r>
          </a:p>
          <a:p>
            <a:endParaRPr lang="en-US" sz="1600" dirty="0"/>
          </a:p>
          <a:p>
            <a:pPr marL="285750" indent="-285750">
              <a:buFont typeface="Wingdings" panose="05000000000000000000" pitchFamily="2" charset="2"/>
              <a:buChar char="Ø"/>
            </a:pPr>
            <a:r>
              <a:rPr lang="en-US" sz="1600" dirty="0"/>
              <a:t>The Use Case diagram shows interactions between users and system functionalities. </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The Class diagram represents the system’s structure and relationships between entities. </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The Sequence diagram illustrates the step-by-step flow of booking and payment processes. </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The Activity diagram explains the overall workflow from searching equipment to completing a booking.</a:t>
            </a:r>
          </a:p>
        </p:txBody>
      </p:sp>
      <p:sp>
        <p:nvSpPr>
          <p:cNvPr id="15" name="Freeform 15"/>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F27300"/>
          </a:solidFill>
        </p:spPr>
      </p:sp>
      <p:sp>
        <p:nvSpPr>
          <p:cNvPr id="16" name="TextBox 16"/>
          <p:cNvSpPr txBox="1"/>
          <p:nvPr/>
        </p:nvSpPr>
        <p:spPr>
          <a:xfrm>
            <a:off x="696000" y="320040"/>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F27300"/>
                </a:solidFill>
                <a:latin typeface="思源黑体 Normal"/>
                <a:ea typeface="思源黑体 Normal"/>
              </a:rPr>
              <a:t>UML Diagrams</a:t>
            </a:r>
            <a:endParaRPr lang="en-US" sz="1100" dirty="0"/>
          </a:p>
        </p:txBody>
      </p:sp>
      <p:sp>
        <p:nvSpPr>
          <p:cNvPr id="17" name="TextBox 13">
            <a:extLst>
              <a:ext uri="{FF2B5EF4-FFF2-40B4-BE49-F238E27FC236}">
                <a16:creationId xmlns:a16="http://schemas.microsoft.com/office/drawing/2014/main" id="{C605FB3F-F024-94D1-3975-8E994A6F3536}"/>
              </a:ext>
            </a:extLst>
          </p:cNvPr>
          <p:cNvSpPr txBox="1"/>
          <p:nvPr/>
        </p:nvSpPr>
        <p:spPr>
          <a:xfrm>
            <a:off x="6543861" y="1179830"/>
            <a:ext cx="5086350" cy="4103370"/>
          </a:xfrm>
          <a:prstGeom prst="rect">
            <a:avLst/>
          </a:prstGeom>
        </p:spPr>
        <p:txBody>
          <a:bodyPr vert="horz" wrap="square" lIns="90170" tIns="46990" rIns="90170" bIns="46990" rtlCol="0" anchor="t">
            <a:normAutofit/>
          </a:bodyPr>
          <a:lstStyle/>
          <a:p>
            <a:endParaRPr lang="en-US" sz="1600" dirty="0"/>
          </a:p>
        </p:txBody>
      </p:sp>
      <p:sp>
        <p:nvSpPr>
          <p:cNvPr id="19" name="TextBox 13">
            <a:extLst>
              <a:ext uri="{FF2B5EF4-FFF2-40B4-BE49-F238E27FC236}">
                <a16:creationId xmlns:a16="http://schemas.microsoft.com/office/drawing/2014/main" id="{CD2DFF9A-DFD9-D9F4-CD1A-C103C10FACC0}"/>
              </a:ext>
            </a:extLst>
          </p:cNvPr>
          <p:cNvSpPr txBox="1"/>
          <p:nvPr/>
        </p:nvSpPr>
        <p:spPr>
          <a:xfrm>
            <a:off x="6240044" y="1179830"/>
            <a:ext cx="5647156" cy="4103370"/>
          </a:xfrm>
          <a:prstGeom prst="rect">
            <a:avLst/>
          </a:prstGeom>
        </p:spPr>
        <p:txBody>
          <a:bodyPr vert="horz" wrap="square" lIns="90170" tIns="46990" rIns="90170" bIns="46990" rtlCol="0" anchor="t">
            <a:noAutofit/>
          </a:bodyPr>
          <a:lstStyle/>
          <a:p>
            <a:r>
              <a:rPr lang="en-IN" sz="1600" dirty="0"/>
              <a:t>Each entity in the ER diagram has been converted into a corresponding class in the Class Diagram. </a:t>
            </a:r>
          </a:p>
          <a:p>
            <a:endParaRPr lang="en-IN" sz="1600" dirty="0"/>
          </a:p>
          <a:p>
            <a:pPr marL="285750" indent="-285750">
              <a:buFont typeface="Wingdings" panose="05000000000000000000" pitchFamily="2" charset="2"/>
              <a:buChar char="Ø"/>
            </a:pPr>
            <a:r>
              <a:rPr lang="en-IN" sz="1600" dirty="0"/>
              <a:t>For example, USER is represented as the User class, while FARMER, EQUIPMENT_OWNER, and ADMINISTRATOR are </a:t>
            </a:r>
            <a:r>
              <a:rPr lang="en-IN" sz="1600" dirty="0" err="1"/>
              <a:t>modeled</a:t>
            </a:r>
            <a:r>
              <a:rPr lang="en-IN" sz="1600" dirty="0"/>
              <a:t> as subclasses using inheritance. </a:t>
            </a:r>
          </a:p>
          <a:p>
            <a:endParaRPr lang="en-IN" sz="1600" dirty="0"/>
          </a:p>
          <a:p>
            <a:pPr marL="285750" indent="-285750">
              <a:buFont typeface="Wingdings" panose="05000000000000000000" pitchFamily="2" charset="2"/>
              <a:buChar char="Ø"/>
            </a:pPr>
            <a:r>
              <a:rPr lang="en-IN" sz="1600" dirty="0"/>
              <a:t>The BOOKING entity resolves the many-to-many relationship between FARMER and EQUIPMENT, and this relationship is preserved in the Class Diagram through associations with correct multiplicities. </a:t>
            </a:r>
          </a:p>
          <a:p>
            <a:endParaRPr lang="en-IN" sz="1600" dirty="0"/>
          </a:p>
          <a:p>
            <a:pPr marL="285750" indent="-285750">
              <a:buFont typeface="Wingdings" panose="05000000000000000000" pitchFamily="2" charset="2"/>
              <a:buChar char="Ø"/>
            </a:pPr>
            <a:r>
              <a:rPr lang="en-IN" sz="1600" dirty="0"/>
              <a:t>The PAYMENT entity maintains a one-to-one relationship with BOOKING, which is also preserved. </a:t>
            </a:r>
          </a:p>
          <a:p>
            <a:endParaRPr lang="en-IN" sz="1600" dirty="0"/>
          </a:p>
          <a:p>
            <a:pPr marL="285750" indent="-285750">
              <a:buFont typeface="Wingdings" panose="05000000000000000000" pitchFamily="2" charset="2"/>
              <a:buChar char="Ø"/>
            </a:pPr>
            <a:r>
              <a:rPr lang="en-IN" sz="1600" dirty="0"/>
              <a:t>The REVIEW entity maintains one-to-many relationships between FARMER and EQUIPMENT. </a:t>
            </a:r>
          </a:p>
          <a:p>
            <a:endParaRPr lang="en-IN" sz="1600" dirty="0"/>
          </a:p>
          <a:p>
            <a:r>
              <a:rPr lang="en-IN" sz="1600" dirty="0"/>
              <a:t>The Use Case, Sequence, and Activity diagrams reflect the functional requirements defined in the SRS </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nodeType="afterEffect">
                                  <p:stCondLst>
                                    <p:cond delay="0"/>
                                  </p:stCondLst>
                                  <p:childTnLst>
                                    <p:anim calcmode="lin" valueType="num">
                                      <p:cBhvr additive="base">
                                        <p:cTn id="6" dur="1000" fill="hold"/>
                                        <p:tgtEl>
                                          <p:spTgt spid="16"/>
                                        </p:tgtEl>
                                        <p:attrNameLst>
                                          <p:attrName>ppt_x</p:attrName>
                                        </p:attrNameLst>
                                      </p:cBhvr>
                                      <p:tavLst>
                                        <p:tav tm="0">
                                          <p:val>
                                            <p:strVal val="1+#ppt_w/2"/>
                                          </p:val>
                                        </p:tav>
                                        <p:tav tm="100000">
                                          <p:val>
                                            <p:strVal val="#ppt_x"/>
                                          </p:val>
                                        </p:tav>
                                      </p:tavLst>
                                    </p:anim>
                                    <p:anim calcmode="lin" valueType="num">
                                      <p:cBhvr additive="base">
                                        <p:cTn id="7" dur="1000" fill="hold"/>
                                        <p:tgtEl>
                                          <p:spTgt spid="16"/>
                                        </p:tgtEl>
                                        <p:attrNameLst>
                                          <p:attrName>ppt_y</p:attrName>
                                        </p:attrNameLst>
                                      </p:cBhvr>
                                      <p:tavLst>
                                        <p:tav tm="0">
                                          <p:val>
                                            <p:strVal val="0-#ppt_h/2"/>
                                          </p:val>
                                        </p:tav>
                                        <p:tav tm="100000">
                                          <p:val>
                                            <p:strVal val="#ppt_y"/>
                                          </p:val>
                                        </p:tav>
                                      </p:tavLst>
                                    </p:anim>
                                    <p:set>
                                      <p:cBhvr>
                                        <p:cTn id="8" dur="1000" fill="hold">
                                          <p:stCondLst>
                                            <p:cond delay="0"/>
                                          </p:stCondLst>
                                        </p:cTn>
                                        <p:tgtEl>
                                          <p:spTgt spid="16"/>
                                        </p:tgtEl>
                                        <p:attrNameLst>
                                          <p:attrName>style.visibility</p:attrName>
                                        </p:attrNameLst>
                                      </p:cBhvr>
                                      <p:to>
                                        <p:strVal val="visible"/>
                                      </p:to>
                                    </p:set>
                                  </p:childTnLst>
                                </p:cTn>
                              </p:par>
                            </p:childTnLst>
                          </p:cTn>
                        </p:par>
                        <p:par>
                          <p:cTn id="9" fill="hold">
                            <p:stCondLst>
                              <p:cond delay="1000"/>
                            </p:stCondLst>
                            <p:childTnLst>
                              <p:par>
                                <p:cTn id="10" presetID="23" presetClass="entr" presetSubtype="528" fill="hold" nodeType="afterEffect">
                                  <p:stCondLst>
                                    <p:cond delay="0"/>
                                  </p:stCondLst>
                                  <p:childTnLs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 calcmode="lin" valueType="num">
                                      <p:cBhvr>
                                        <p:cTn id="13" dur="500" fill="hold"/>
                                        <p:tgtEl>
                                          <p:spTgt spid="13"/>
                                        </p:tgtEl>
                                        <p:attrNameLst>
                                          <p:attrName>ppt_x</p:attrName>
                                        </p:attrNameLst>
                                      </p:cBhvr>
                                      <p:tavLst>
                                        <p:tav tm="0">
                                          <p:val>
                                            <p:fltVal val="0.5"/>
                                          </p:val>
                                        </p:tav>
                                        <p:tav tm="100000">
                                          <p:val>
                                            <p:strVal val="#ppt_x"/>
                                          </p:val>
                                        </p:tav>
                                      </p:tavLst>
                                    </p:anim>
                                    <p:anim calcmode="lin" valueType="num">
                                      <p:cBhvr>
                                        <p:cTn id="14" dur="500" fill="hold"/>
                                        <p:tgtEl>
                                          <p:spTgt spid="13"/>
                                        </p:tgtEl>
                                        <p:attrNameLst>
                                          <p:attrName>ppt_y</p:attrName>
                                        </p:attrNameLst>
                                      </p:cBhvr>
                                      <p:tavLst>
                                        <p:tav tm="0">
                                          <p:val>
                                            <p:fltVal val="0.5"/>
                                          </p:val>
                                        </p:tav>
                                        <p:tav tm="100000">
                                          <p:val>
                                            <p:strVal val="#ppt_y"/>
                                          </p:val>
                                        </p:tav>
                                      </p:tavLst>
                                    </p:anim>
                                    <p:set>
                                      <p:cBhvr>
                                        <p:cTn id="15" dur="500" fill="hold">
                                          <p:stCondLst>
                                            <p:cond delay="0"/>
                                          </p:stCondLst>
                                        </p:cTn>
                                        <p:tgtEl>
                                          <p:spTgt spid="13"/>
                                        </p:tgtEl>
                                        <p:attrNameLst>
                                          <p:attrName>style.visibility</p:attrName>
                                        </p:attrNameLst>
                                      </p:cBhvr>
                                      <p:to>
                                        <p:strVal val="visible"/>
                                      </p:to>
                                    </p:set>
                                  </p:childTnLst>
                                </p:cTn>
                              </p:par>
                            </p:childTnLst>
                          </p:cTn>
                        </p:par>
                        <p:par>
                          <p:cTn id="16" fill="hold">
                            <p:stCondLst>
                              <p:cond delay="1500"/>
                            </p:stCondLst>
                            <p:childTnLst>
                              <p:par>
                                <p:cTn id="17" presetID="23" presetClass="entr" presetSubtype="528" fill="hold" nodeType="afterEffect">
                                  <p:stCondLst>
                                    <p:cond delay="0"/>
                                  </p:stCondLst>
                                  <p:childTnLst>
                                    <p:anim calcmode="lin" valueType="num">
                                      <p:cBhvr>
                                        <p:cTn id="18" dur="500" fill="hold"/>
                                        <p:tgtEl>
                                          <p:spTgt spid="17"/>
                                        </p:tgtEl>
                                        <p:attrNameLst>
                                          <p:attrName>ppt_w</p:attrName>
                                        </p:attrNameLst>
                                      </p:cBhvr>
                                      <p:tavLst>
                                        <p:tav tm="0">
                                          <p:val>
                                            <p:fltVal val="0"/>
                                          </p:val>
                                        </p:tav>
                                        <p:tav tm="100000">
                                          <p:val>
                                            <p:strVal val="#ppt_w"/>
                                          </p:val>
                                        </p:tav>
                                      </p:tavLst>
                                    </p:anim>
                                    <p:anim calcmode="lin" valueType="num">
                                      <p:cBhvr>
                                        <p:cTn id="19" dur="500" fill="hold"/>
                                        <p:tgtEl>
                                          <p:spTgt spid="17"/>
                                        </p:tgtEl>
                                        <p:attrNameLst>
                                          <p:attrName>ppt_h</p:attrName>
                                        </p:attrNameLst>
                                      </p:cBhvr>
                                      <p:tavLst>
                                        <p:tav tm="0">
                                          <p:val>
                                            <p:fltVal val="0"/>
                                          </p:val>
                                        </p:tav>
                                        <p:tav tm="100000">
                                          <p:val>
                                            <p:strVal val="#ppt_h"/>
                                          </p:val>
                                        </p:tav>
                                      </p:tavLst>
                                    </p:anim>
                                    <p:anim calcmode="lin" valueType="num">
                                      <p:cBhvr>
                                        <p:cTn id="20" dur="500" fill="hold"/>
                                        <p:tgtEl>
                                          <p:spTgt spid="17"/>
                                        </p:tgtEl>
                                        <p:attrNameLst>
                                          <p:attrName>ppt_x</p:attrName>
                                        </p:attrNameLst>
                                      </p:cBhvr>
                                      <p:tavLst>
                                        <p:tav tm="0">
                                          <p:val>
                                            <p:fltVal val="0.5"/>
                                          </p:val>
                                        </p:tav>
                                        <p:tav tm="100000">
                                          <p:val>
                                            <p:strVal val="#ppt_x"/>
                                          </p:val>
                                        </p:tav>
                                      </p:tavLst>
                                    </p:anim>
                                    <p:anim calcmode="lin" valueType="num">
                                      <p:cBhvr>
                                        <p:cTn id="21" dur="500" fill="hold"/>
                                        <p:tgtEl>
                                          <p:spTgt spid="17"/>
                                        </p:tgtEl>
                                        <p:attrNameLst>
                                          <p:attrName>ppt_y</p:attrName>
                                        </p:attrNameLst>
                                      </p:cBhvr>
                                      <p:tavLst>
                                        <p:tav tm="0">
                                          <p:val>
                                            <p:fltVal val="0.5"/>
                                          </p:val>
                                        </p:tav>
                                        <p:tav tm="100000">
                                          <p:val>
                                            <p:strVal val="#ppt_y"/>
                                          </p:val>
                                        </p:tav>
                                      </p:tavLst>
                                    </p:anim>
                                    <p:set>
                                      <p:cBhvr>
                                        <p:cTn id="22" dur="500" fill="hold">
                                          <p:stCondLst>
                                            <p:cond delay="0"/>
                                          </p:stCondLst>
                                        </p:cTn>
                                        <p:tgtEl>
                                          <p:spTgt spid="17"/>
                                        </p:tgtEl>
                                        <p:attrNameLst>
                                          <p:attrName>style.visibility</p:attrName>
                                        </p:attrNameLst>
                                      </p:cBhvr>
                                      <p:to>
                                        <p:strVal val="visible"/>
                                      </p:to>
                                    </p:set>
                                  </p:childTnLst>
                                </p:cTn>
                              </p:par>
                            </p:childTnLst>
                          </p:cTn>
                        </p:par>
                        <p:par>
                          <p:cTn id="23" fill="hold">
                            <p:stCondLst>
                              <p:cond delay="2000"/>
                            </p:stCondLst>
                            <p:childTnLst>
                              <p:par>
                                <p:cTn id="24" presetID="23" presetClass="entr" presetSubtype="528" fill="hold" nodeType="afterEffect">
                                  <p:stCondLst>
                                    <p:cond delay="0"/>
                                  </p:stCondLst>
                                  <p:childTnLst>
                                    <p:anim calcmode="lin" valueType="num">
                                      <p:cBhvr>
                                        <p:cTn id="25" dur="500" fill="hold"/>
                                        <p:tgtEl>
                                          <p:spTgt spid="19"/>
                                        </p:tgtEl>
                                        <p:attrNameLst>
                                          <p:attrName>ppt_w</p:attrName>
                                        </p:attrNameLst>
                                      </p:cBhvr>
                                      <p:tavLst>
                                        <p:tav tm="0">
                                          <p:val>
                                            <p:fltVal val="0"/>
                                          </p:val>
                                        </p:tav>
                                        <p:tav tm="100000">
                                          <p:val>
                                            <p:strVal val="#ppt_w"/>
                                          </p:val>
                                        </p:tav>
                                      </p:tavLst>
                                    </p:anim>
                                    <p:anim calcmode="lin" valueType="num">
                                      <p:cBhvr>
                                        <p:cTn id="26" dur="500" fill="hold"/>
                                        <p:tgtEl>
                                          <p:spTgt spid="19"/>
                                        </p:tgtEl>
                                        <p:attrNameLst>
                                          <p:attrName>ppt_h</p:attrName>
                                        </p:attrNameLst>
                                      </p:cBhvr>
                                      <p:tavLst>
                                        <p:tav tm="0">
                                          <p:val>
                                            <p:fltVal val="0"/>
                                          </p:val>
                                        </p:tav>
                                        <p:tav tm="100000">
                                          <p:val>
                                            <p:strVal val="#ppt_h"/>
                                          </p:val>
                                        </p:tav>
                                      </p:tavLst>
                                    </p:anim>
                                    <p:anim calcmode="lin" valueType="num">
                                      <p:cBhvr>
                                        <p:cTn id="27" dur="500" fill="hold"/>
                                        <p:tgtEl>
                                          <p:spTgt spid="19"/>
                                        </p:tgtEl>
                                        <p:attrNameLst>
                                          <p:attrName>ppt_x</p:attrName>
                                        </p:attrNameLst>
                                      </p:cBhvr>
                                      <p:tavLst>
                                        <p:tav tm="0">
                                          <p:val>
                                            <p:fltVal val="0.5"/>
                                          </p:val>
                                        </p:tav>
                                        <p:tav tm="100000">
                                          <p:val>
                                            <p:strVal val="#ppt_x"/>
                                          </p:val>
                                        </p:tav>
                                      </p:tavLst>
                                    </p:anim>
                                    <p:anim calcmode="lin" valueType="num">
                                      <p:cBhvr>
                                        <p:cTn id="28" dur="500" fill="hold"/>
                                        <p:tgtEl>
                                          <p:spTgt spid="19"/>
                                        </p:tgtEl>
                                        <p:attrNameLst>
                                          <p:attrName>ppt_y</p:attrName>
                                        </p:attrNameLst>
                                      </p:cBhvr>
                                      <p:tavLst>
                                        <p:tav tm="0">
                                          <p:val>
                                            <p:fltVal val="0.5"/>
                                          </p:val>
                                        </p:tav>
                                        <p:tav tm="100000">
                                          <p:val>
                                            <p:strVal val="#ppt_y"/>
                                          </p:val>
                                        </p:tav>
                                      </p:tavLst>
                                    </p:anim>
                                    <p:set>
                                      <p:cBhvr>
                                        <p:cTn id="29" dur="500"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6767830" y="2012950"/>
            <a:ext cx="3902710" cy="721360"/>
          </a:xfrm>
          <a:prstGeom prst="rect">
            <a:avLst/>
          </a:prstGeom>
          <a:noFill/>
          <a:ln>
            <a:noFill/>
          </a:ln>
        </p:spPr>
        <p:txBody>
          <a:bodyPr vert="horz" lIns="91440" tIns="45720" rIns="91440" bIns="45720" rtlCol="0" anchor="ctr">
            <a:noAutofit/>
          </a:bodyPr>
          <a:lstStyle/>
          <a:p>
            <a:pPr marL="0" marR="0" indent="0" algn="r" fontAlgn="auto">
              <a:lnSpc>
                <a:spcPct val="120000"/>
              </a:lnSpc>
              <a:spcBef>
                <a:spcPct val="0"/>
              </a:spcBef>
              <a:spcAft>
                <a:spcPct val="0"/>
              </a:spcAft>
              <a:buNone/>
              <a:defRPr/>
            </a:pPr>
            <a:r>
              <a:rPr lang="en-US" sz="4800" b="0" i="0" u="none" spc="400" baseline="0">
                <a:ln/>
                <a:solidFill>
                  <a:srgbClr val="F27300"/>
                </a:solidFill>
                <a:effectLst/>
                <a:latin typeface="思源黑体 Medium"/>
                <a:ea typeface="思源黑体 Medium"/>
              </a:rPr>
              <a:t>PART   03     </a:t>
            </a:r>
            <a:endParaRPr lang="en-US" sz="1100"/>
          </a:p>
        </p:txBody>
      </p:sp>
      <p:sp>
        <p:nvSpPr>
          <p:cNvPr id="3" name="TextBox 3"/>
          <p:cNvSpPr txBox="1"/>
          <p:nvPr/>
        </p:nvSpPr>
        <p:spPr>
          <a:xfrm>
            <a:off x="3771265" y="2889885"/>
            <a:ext cx="6899275" cy="2569210"/>
          </a:xfrm>
          <a:prstGeom prst="rect">
            <a:avLst/>
          </a:prstGeom>
          <a:noFill/>
          <a:ln>
            <a:noFill/>
          </a:ln>
        </p:spPr>
        <p:txBody>
          <a:bodyPr vert="horz" lIns="91440" tIns="45720" rIns="91440" bIns="45720" rtlCol="0" anchor="t">
            <a:normAutofit/>
          </a:bodyPr>
          <a:lstStyle/>
          <a:p>
            <a:pPr marL="0" indent="0" algn="r" fontAlgn="auto">
              <a:lnSpc>
                <a:spcPct val="120000"/>
              </a:lnSpc>
              <a:spcBef>
                <a:spcPct val="0"/>
              </a:spcBef>
              <a:buNone/>
              <a:defRPr/>
            </a:pPr>
            <a:r>
              <a:rPr lang="en-US" sz="4800" b="0" i="0" u="none" spc="400" baseline="0">
                <a:solidFill>
                  <a:srgbClr val="F27300"/>
                </a:solidFill>
                <a:latin typeface="思源黑体 Medium"/>
                <a:ea typeface="思源黑体 Medium"/>
              </a:rPr>
              <a:t>Database Implementation</a:t>
            </a:r>
            <a:endParaRPr lang="en-US" sz="110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nodeType="afterEffect">
                                  <p:stCondLst>
                                    <p:cond delay="0"/>
                                  </p:stCondLst>
                                  <p:childTnLst>
                                    <p:anim calcmode="lin" valueType="num">
                                      <p:cBhvr additive="base">
                                        <p:cTn id="6" dur="500" fill="hold"/>
                                        <p:tgtEl>
                                          <p:spTgt spid="2"/>
                                        </p:tgtEl>
                                        <p:attrNameLst>
                                          <p:attrName>ppt_x</p:attrName>
                                        </p:attrNameLst>
                                      </p:cBhvr>
                                      <p:tavLst>
                                        <p:tav tm="0">
                                          <p:val>
                                            <p:strVal val="#ppt_x+#ppt_w/2"/>
                                          </p:val>
                                        </p:tav>
                                        <p:tav tm="100000">
                                          <p:val>
                                            <p:strVal val="#ppt_x"/>
                                          </p:val>
                                        </p:tav>
                                      </p:tavLst>
                                    </p:anim>
                                    <p:anim calcmode="lin" valueType="num">
                                      <p:cBhvr additive="base">
                                        <p:cTn id="7" dur="500" fill="hold"/>
                                        <p:tgtEl>
                                          <p:spTgt spid="2"/>
                                        </p:tgtEl>
                                        <p:attrNameLst>
                                          <p:attrName>ppt_y</p:attrName>
                                        </p:attrNameLst>
                                      </p:cBhvr>
                                      <p:tavLst>
                                        <p:tav tm="0">
                                          <p:val>
                                            <p:strVal val="#ppt_y"/>
                                          </p:val>
                                        </p:tav>
                                        <p:tav tm="100000">
                                          <p:val>
                                            <p:strVal val="#ppt_y"/>
                                          </p:val>
                                        </p:tav>
                                      </p:tavLst>
                                    </p:anim>
                                    <p:anim calcmode="lin" valueType="num">
                                      <p:cBhvr additive="base">
                                        <p:cTn id="8" dur="500" fill="hold"/>
                                        <p:tgtEl>
                                          <p:spTgt spid="2"/>
                                        </p:tgtEl>
                                        <p:attrNameLst>
                                          <p:attrName>ppt_w</p:attrName>
                                        </p:attrNameLst>
                                      </p:cBhvr>
                                      <p:tavLst>
                                        <p:tav tm="0">
                                          <p:val>
                                            <p:fltVal val="0"/>
                                          </p:val>
                                        </p:tav>
                                        <p:tav tm="100000">
                                          <p:val>
                                            <p:strVal val="#ppt_w"/>
                                          </p:val>
                                        </p:tav>
                                      </p:tavLst>
                                    </p:anim>
                                    <p:anim calcmode="lin" valueType="num">
                                      <p:cBhvr additive="base">
                                        <p:cTn id="9" dur="500" fill="hold"/>
                                        <p:tgtEl>
                                          <p:spTgt spid="2"/>
                                        </p:tgtEl>
                                        <p:attrNameLst>
                                          <p:attrName>ppt_h</p:attrName>
                                        </p:attrNameLst>
                                      </p:cBhvr>
                                      <p:tavLst>
                                        <p:tav tm="0">
                                          <p:val>
                                            <p:strVal val="#ppt_h"/>
                                          </p:val>
                                        </p:tav>
                                        <p:tav tm="100000">
                                          <p:val>
                                            <p:strVal val="#ppt_h"/>
                                          </p:val>
                                        </p:tav>
                                      </p:tavLst>
                                    </p:anim>
                                    <p:set>
                                      <p:cBhvr additive="base">
                                        <p:cTn id="10" dur="500" fill="hold">
                                          <p:stCondLst>
                                            <p:cond delay="0"/>
                                          </p:stCondLst>
                                        </p:cTn>
                                        <p:tgtEl>
                                          <p:spTgt spid="2"/>
                                        </p:tgtEl>
                                        <p:attrNameLst>
                                          <p:attrName>style.visibility</p:attrName>
                                        </p:attrNameLst>
                                      </p:cBhvr>
                                      <p:to>
                                        <p:strVal val="visible"/>
                                      </p:to>
                                    </p:set>
                                  </p:childTnLst>
                                </p:cTn>
                              </p:par>
                            </p:childTnLst>
                          </p:cTn>
                        </p:par>
                        <p:par>
                          <p:cTn id="11" fill="hold">
                            <p:stCondLst>
                              <p:cond delay="0"/>
                            </p:stCondLst>
                            <p:childTnLst>
                              <p:par>
                                <p:cTn id="12" presetID="6" presetClass="entr" presetSubtype="16" fill="hold" nodeType="afterEffect">
                                  <p:stCondLst>
                                    <p:cond delay="0"/>
                                  </p:stCondLst>
                                  <p:childTnLst>
                                    <p:animEffect transition="in" filter="circle(in)">
                                      <p:cBhvr>
                                        <p:cTn id="13" dur="1000"/>
                                        <p:tgtEl>
                                          <p:spTgt spid="3"/>
                                        </p:tgtEl>
                                      </p:cBhvr>
                                    </p:animEffect>
                                    <p:set>
                                      <p:cBhvr>
                                        <p:cTn id="14" dur="10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rot="2700000">
            <a:off x="10765790" y="5950585"/>
            <a:ext cx="492760" cy="492760"/>
          </a:xfrm>
          <a:prstGeom prst="rect">
            <a:avLst/>
          </a:prstGeom>
          <a:gradFill>
            <a:gsLst>
              <a:gs pos="2000">
                <a:srgbClr val="F27300"/>
              </a:gs>
              <a:gs pos="100000">
                <a:srgbClr val="FFE3CB"/>
              </a:gs>
            </a:gsLst>
            <a:lin ang="2700000"/>
          </a:gradFill>
          <a:ln>
            <a:noFill/>
          </a:ln>
        </p:spPr>
        <p:txBody>
          <a:bodyPr vert="horz" lIns="91440" tIns="45720" rIns="91440" bIns="45720" anchor="ctr"/>
          <a:lstStyle/>
          <a:p>
            <a:pPr marL="0" algn="ctr"/>
            <a:endParaRPr/>
          </a:p>
        </p:txBody>
      </p:sp>
      <p:sp>
        <p:nvSpPr>
          <p:cNvPr id="8" name="Freeform 8"/>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F27300"/>
          </a:solidFill>
        </p:spPr>
      </p:sp>
      <p:sp>
        <p:nvSpPr>
          <p:cNvPr id="9" name="TextBox 9"/>
          <p:cNvSpPr txBox="1"/>
          <p:nvPr/>
        </p:nvSpPr>
        <p:spPr>
          <a:xfrm>
            <a:off x="685165" y="320040"/>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F27300"/>
                </a:solidFill>
                <a:latin typeface="思源黑体 Normal"/>
                <a:ea typeface="思源黑体 Normal"/>
              </a:rPr>
              <a:t>Relational Schema</a:t>
            </a:r>
            <a:endParaRPr lang="en-US" sz="1100" dirty="0"/>
          </a:p>
        </p:txBody>
      </p:sp>
      <p:graphicFrame>
        <p:nvGraphicFramePr>
          <p:cNvPr id="11" name="Table 10">
            <a:extLst>
              <a:ext uri="{FF2B5EF4-FFF2-40B4-BE49-F238E27FC236}">
                <a16:creationId xmlns:a16="http://schemas.microsoft.com/office/drawing/2014/main" id="{A0A32636-47AC-E597-E293-B2E9CC2E221A}"/>
              </a:ext>
            </a:extLst>
          </p:cNvPr>
          <p:cNvGraphicFramePr>
            <a:graphicFrameLocks noGrp="1"/>
          </p:cNvGraphicFramePr>
          <p:nvPr>
            <p:extLst>
              <p:ext uri="{D42A27DB-BD31-4B8C-83A1-F6EECF244321}">
                <p14:modId xmlns:p14="http://schemas.microsoft.com/office/powerpoint/2010/main" val="2385418477"/>
              </p:ext>
            </p:extLst>
          </p:nvPr>
        </p:nvGraphicFramePr>
        <p:xfrm>
          <a:off x="457200" y="1117168"/>
          <a:ext cx="10715931" cy="5435605"/>
        </p:xfrm>
        <a:graphic>
          <a:graphicData uri="http://schemas.openxmlformats.org/drawingml/2006/table">
            <a:tbl>
              <a:tblPr/>
              <a:tblGrid>
                <a:gridCol w="3571977">
                  <a:extLst>
                    <a:ext uri="{9D8B030D-6E8A-4147-A177-3AD203B41FA5}">
                      <a16:colId xmlns:a16="http://schemas.microsoft.com/office/drawing/2014/main" val="1040836796"/>
                    </a:ext>
                  </a:extLst>
                </a:gridCol>
                <a:gridCol w="3571977">
                  <a:extLst>
                    <a:ext uri="{9D8B030D-6E8A-4147-A177-3AD203B41FA5}">
                      <a16:colId xmlns:a16="http://schemas.microsoft.com/office/drawing/2014/main" val="2236307801"/>
                    </a:ext>
                  </a:extLst>
                </a:gridCol>
                <a:gridCol w="3571977">
                  <a:extLst>
                    <a:ext uri="{9D8B030D-6E8A-4147-A177-3AD203B41FA5}">
                      <a16:colId xmlns:a16="http://schemas.microsoft.com/office/drawing/2014/main" val="4094215822"/>
                    </a:ext>
                  </a:extLst>
                </a:gridCol>
              </a:tblGrid>
              <a:tr h="279682">
                <a:tc>
                  <a:txBody>
                    <a:bodyPr/>
                    <a:lstStyle/>
                    <a:p>
                      <a:pPr>
                        <a:buNone/>
                      </a:pPr>
                      <a:r>
                        <a:rPr lang="en-IN" sz="1600" b="1"/>
                        <a:t>Concept</a:t>
                      </a:r>
                      <a:endParaRPr lang="en-IN" sz="1600"/>
                    </a:p>
                  </a:txBody>
                  <a:tcPr marL="58802" marR="58802" marT="29401" marB="29401" anchor="ctr">
                    <a:lnL>
                      <a:noFill/>
                    </a:lnL>
                    <a:lnR>
                      <a:noFill/>
                    </a:lnR>
                    <a:lnT>
                      <a:noFill/>
                    </a:lnT>
                    <a:lnB>
                      <a:noFill/>
                    </a:lnB>
                    <a:noFill/>
                  </a:tcPr>
                </a:tc>
                <a:tc>
                  <a:txBody>
                    <a:bodyPr/>
                    <a:lstStyle/>
                    <a:p>
                      <a:pPr>
                        <a:buNone/>
                      </a:pPr>
                      <a:r>
                        <a:rPr lang="en-IN" sz="1600" b="1"/>
                        <a:t>Explanation</a:t>
                      </a:r>
                      <a:endParaRPr lang="en-IN" sz="1600"/>
                    </a:p>
                  </a:txBody>
                  <a:tcPr marL="58802" marR="58802" marT="29401" marB="29401" anchor="ctr">
                    <a:lnL>
                      <a:noFill/>
                    </a:lnL>
                    <a:lnR>
                      <a:noFill/>
                    </a:lnR>
                    <a:lnT>
                      <a:noFill/>
                    </a:lnT>
                    <a:lnB>
                      <a:noFill/>
                    </a:lnB>
                    <a:noFill/>
                  </a:tcPr>
                </a:tc>
                <a:tc>
                  <a:txBody>
                    <a:bodyPr/>
                    <a:lstStyle/>
                    <a:p>
                      <a:pPr>
                        <a:buNone/>
                      </a:pPr>
                      <a:r>
                        <a:rPr lang="en-IN" sz="1600" b="1"/>
                        <a:t>Example (SQL / Data)</a:t>
                      </a:r>
                      <a:endParaRPr lang="en-IN" sz="1600"/>
                    </a:p>
                  </a:txBody>
                  <a:tcPr marL="58802" marR="58802" marT="29401" marB="29401" anchor="ctr">
                    <a:lnL>
                      <a:noFill/>
                    </a:lnL>
                    <a:lnR>
                      <a:noFill/>
                    </a:lnR>
                    <a:lnT>
                      <a:noFill/>
                    </a:lnT>
                    <a:lnB>
                      <a:noFill/>
                    </a:lnB>
                    <a:noFill/>
                  </a:tcPr>
                </a:tc>
                <a:extLst>
                  <a:ext uri="{0D108BD9-81ED-4DB2-BD59-A6C34878D82A}">
                    <a16:rowId xmlns:a16="http://schemas.microsoft.com/office/drawing/2014/main" val="2313119096"/>
                  </a:ext>
                </a:extLst>
              </a:tr>
              <a:tr h="680473">
                <a:tc>
                  <a:txBody>
                    <a:bodyPr/>
                    <a:lstStyle/>
                    <a:p>
                      <a:pPr>
                        <a:buNone/>
                      </a:pPr>
                      <a:r>
                        <a:rPr lang="en-IN" sz="1600" b="1" dirty="0"/>
                        <a:t>Entity → Table Mapping</a:t>
                      </a:r>
                      <a:endParaRPr lang="en-IN" sz="1600" dirty="0"/>
                    </a:p>
                  </a:txBody>
                  <a:tcPr marL="58802" marR="58802" marT="29401" marB="29401" anchor="ctr">
                    <a:lnL>
                      <a:noFill/>
                    </a:lnL>
                    <a:lnR>
                      <a:noFill/>
                    </a:lnR>
                    <a:lnT>
                      <a:noFill/>
                    </a:lnT>
                    <a:lnB>
                      <a:noFill/>
                    </a:lnB>
                    <a:noFill/>
                  </a:tcPr>
                </a:tc>
                <a:tc>
                  <a:txBody>
                    <a:bodyPr/>
                    <a:lstStyle/>
                    <a:p>
                      <a:pPr>
                        <a:buNone/>
                      </a:pPr>
                      <a:r>
                        <a:rPr lang="en-US" sz="1600"/>
                        <a:t>Each entity from the ER model is converted into a table in the relational schema.</a:t>
                      </a:r>
                    </a:p>
                  </a:txBody>
                  <a:tcPr marL="58802" marR="58802" marT="29401" marB="29401" anchor="ctr">
                    <a:lnL>
                      <a:noFill/>
                    </a:lnL>
                    <a:lnR>
                      <a:noFill/>
                    </a:lnR>
                    <a:lnT>
                      <a:noFill/>
                    </a:lnT>
                    <a:lnB>
                      <a:noFill/>
                    </a:lnB>
                    <a:noFill/>
                  </a:tcPr>
                </a:tc>
                <a:tc>
                  <a:txBody>
                    <a:bodyPr/>
                    <a:lstStyle/>
                    <a:p>
                      <a:pPr>
                        <a:buNone/>
                      </a:pPr>
                      <a:r>
                        <a:rPr lang="en-US" sz="1600">
                          <a:latin typeface="Courier New" panose="02070309020205020404" pitchFamily="49" charset="0"/>
                        </a:rPr>
                        <a:t>Users(user_id, name, email)</a:t>
                      </a:r>
                      <a:endParaRPr lang="en-US" sz="1600"/>
                    </a:p>
                  </a:txBody>
                  <a:tcPr marL="58802" marR="58802" marT="29401" marB="29401" anchor="ctr">
                    <a:lnL>
                      <a:noFill/>
                    </a:lnL>
                    <a:lnR>
                      <a:noFill/>
                    </a:lnR>
                    <a:lnT>
                      <a:noFill/>
                    </a:lnT>
                    <a:lnB>
                      <a:noFill/>
                    </a:lnB>
                    <a:noFill/>
                  </a:tcPr>
                </a:tc>
                <a:extLst>
                  <a:ext uri="{0D108BD9-81ED-4DB2-BD59-A6C34878D82A}">
                    <a16:rowId xmlns:a16="http://schemas.microsoft.com/office/drawing/2014/main" val="3565654549"/>
                  </a:ext>
                </a:extLst>
              </a:tr>
              <a:tr h="425078">
                <a:tc>
                  <a:txBody>
                    <a:bodyPr/>
                    <a:lstStyle/>
                    <a:p>
                      <a:pPr>
                        <a:buNone/>
                      </a:pPr>
                      <a:r>
                        <a:rPr lang="en-IN" sz="1600" b="1" dirty="0"/>
                        <a:t>Primary Key</a:t>
                      </a:r>
                      <a:endParaRPr lang="en-IN" sz="1600" dirty="0"/>
                    </a:p>
                  </a:txBody>
                  <a:tcPr marL="58802" marR="58802" marT="29401" marB="29401" anchor="ctr">
                    <a:lnL>
                      <a:noFill/>
                    </a:lnL>
                    <a:lnR>
                      <a:noFill/>
                    </a:lnR>
                    <a:lnT>
                      <a:noFill/>
                    </a:lnT>
                    <a:lnB>
                      <a:noFill/>
                    </a:lnB>
                    <a:noFill/>
                  </a:tcPr>
                </a:tc>
                <a:tc>
                  <a:txBody>
                    <a:bodyPr/>
                    <a:lstStyle/>
                    <a:p>
                      <a:pPr>
                        <a:buNone/>
                      </a:pPr>
                      <a:r>
                        <a:rPr lang="en-US" sz="1600"/>
                        <a:t>Uniquely identifies each record in a table.</a:t>
                      </a:r>
                    </a:p>
                  </a:txBody>
                  <a:tcPr marL="58802" marR="58802" marT="29401" marB="29401" anchor="ctr">
                    <a:lnL>
                      <a:noFill/>
                    </a:lnL>
                    <a:lnR>
                      <a:noFill/>
                    </a:lnR>
                    <a:lnT>
                      <a:noFill/>
                    </a:lnT>
                    <a:lnB>
                      <a:noFill/>
                    </a:lnB>
                    <a:noFill/>
                  </a:tcPr>
                </a:tc>
                <a:tc>
                  <a:txBody>
                    <a:bodyPr/>
                    <a:lstStyle/>
                    <a:p>
                      <a:pPr>
                        <a:buNone/>
                      </a:pPr>
                      <a:r>
                        <a:rPr lang="en-US" sz="1600">
                          <a:latin typeface="Courier New" panose="02070309020205020404" pitchFamily="49" charset="0"/>
                        </a:rPr>
                        <a:t>user_id INT PRIMARY KEY</a:t>
                      </a:r>
                      <a:endParaRPr lang="en-US" sz="1600"/>
                    </a:p>
                  </a:txBody>
                  <a:tcPr marL="58802" marR="58802" marT="29401" marB="29401" anchor="ctr">
                    <a:lnL>
                      <a:noFill/>
                    </a:lnL>
                    <a:lnR>
                      <a:noFill/>
                    </a:lnR>
                    <a:lnT>
                      <a:noFill/>
                    </a:lnT>
                    <a:lnB>
                      <a:noFill/>
                    </a:lnB>
                    <a:noFill/>
                  </a:tcPr>
                </a:tc>
                <a:extLst>
                  <a:ext uri="{0D108BD9-81ED-4DB2-BD59-A6C34878D82A}">
                    <a16:rowId xmlns:a16="http://schemas.microsoft.com/office/drawing/2014/main" val="3534023609"/>
                  </a:ext>
                </a:extLst>
              </a:tr>
              <a:tr h="491316">
                <a:tc>
                  <a:txBody>
                    <a:bodyPr/>
                    <a:lstStyle/>
                    <a:p>
                      <a:pPr>
                        <a:buNone/>
                      </a:pPr>
                      <a:r>
                        <a:rPr lang="en-IN" sz="1600" b="1"/>
                        <a:t>Foreign Key</a:t>
                      </a:r>
                      <a:endParaRPr lang="en-IN" sz="1600"/>
                    </a:p>
                  </a:txBody>
                  <a:tcPr marL="58802" marR="58802" marT="29401" marB="29401" anchor="ctr">
                    <a:lnL>
                      <a:noFill/>
                    </a:lnL>
                    <a:lnR>
                      <a:noFill/>
                    </a:lnR>
                    <a:lnT>
                      <a:noFill/>
                    </a:lnT>
                    <a:lnB>
                      <a:noFill/>
                    </a:lnB>
                    <a:noFill/>
                  </a:tcPr>
                </a:tc>
                <a:tc>
                  <a:txBody>
                    <a:bodyPr/>
                    <a:lstStyle/>
                    <a:p>
                      <a:pPr>
                        <a:buNone/>
                      </a:pPr>
                      <a:r>
                        <a:rPr lang="en-IN" sz="1600"/>
                        <a:t>Establishes relationships between tables.</a:t>
                      </a:r>
                    </a:p>
                  </a:txBody>
                  <a:tcPr marL="58802" marR="58802" marT="29401" marB="29401" anchor="ctr">
                    <a:lnL>
                      <a:noFill/>
                    </a:lnL>
                    <a:lnR>
                      <a:noFill/>
                    </a:lnR>
                    <a:lnT>
                      <a:noFill/>
                    </a:lnT>
                    <a:lnB>
                      <a:noFill/>
                    </a:lnB>
                    <a:noFill/>
                  </a:tcPr>
                </a:tc>
                <a:tc>
                  <a:txBody>
                    <a:bodyPr/>
                    <a:lstStyle/>
                    <a:p>
                      <a:pPr>
                        <a:buNone/>
                      </a:pPr>
                      <a:r>
                        <a:rPr lang="en-US" sz="1600">
                          <a:latin typeface="Courier New" panose="02070309020205020404" pitchFamily="49" charset="0"/>
                        </a:rPr>
                        <a:t>owner_id REFERENCES EquipmentOwner(owner_id)</a:t>
                      </a:r>
                      <a:endParaRPr lang="en-US" sz="1600"/>
                    </a:p>
                  </a:txBody>
                  <a:tcPr marL="58802" marR="58802" marT="29401" marB="29401" anchor="ctr">
                    <a:lnL>
                      <a:noFill/>
                    </a:lnL>
                    <a:lnR>
                      <a:noFill/>
                    </a:lnR>
                    <a:lnT>
                      <a:noFill/>
                    </a:lnT>
                    <a:lnB>
                      <a:noFill/>
                    </a:lnB>
                    <a:noFill/>
                  </a:tcPr>
                </a:tc>
                <a:extLst>
                  <a:ext uri="{0D108BD9-81ED-4DB2-BD59-A6C34878D82A}">
                    <a16:rowId xmlns:a16="http://schemas.microsoft.com/office/drawing/2014/main" val="2122528306"/>
                  </a:ext>
                </a:extLst>
              </a:tr>
              <a:tr h="476331">
                <a:tc>
                  <a:txBody>
                    <a:bodyPr/>
                    <a:lstStyle/>
                    <a:p>
                      <a:pPr>
                        <a:buNone/>
                      </a:pPr>
                      <a:r>
                        <a:rPr lang="en-IN" sz="1600" b="1"/>
                        <a:t>One-to-Many Relationship</a:t>
                      </a:r>
                      <a:endParaRPr lang="en-IN" sz="1600"/>
                    </a:p>
                  </a:txBody>
                  <a:tcPr marL="58802" marR="58802" marT="29401" marB="29401" anchor="ctr">
                    <a:lnL>
                      <a:noFill/>
                    </a:lnL>
                    <a:lnR>
                      <a:noFill/>
                    </a:lnR>
                    <a:lnT>
                      <a:noFill/>
                    </a:lnT>
                    <a:lnB>
                      <a:noFill/>
                    </a:lnB>
                    <a:noFill/>
                  </a:tcPr>
                </a:tc>
                <a:tc>
                  <a:txBody>
                    <a:bodyPr/>
                    <a:lstStyle/>
                    <a:p>
                      <a:pPr>
                        <a:buNone/>
                      </a:pPr>
                      <a:r>
                        <a:rPr lang="en-US" sz="1600"/>
                        <a:t>One owner can manage multiple equipment.</a:t>
                      </a:r>
                    </a:p>
                  </a:txBody>
                  <a:tcPr marL="58802" marR="58802" marT="29401" marB="29401" anchor="ctr">
                    <a:lnL>
                      <a:noFill/>
                    </a:lnL>
                    <a:lnR>
                      <a:noFill/>
                    </a:lnR>
                    <a:lnT>
                      <a:noFill/>
                    </a:lnT>
                    <a:lnB>
                      <a:noFill/>
                    </a:lnB>
                    <a:noFill/>
                  </a:tcPr>
                </a:tc>
                <a:tc>
                  <a:txBody>
                    <a:bodyPr/>
                    <a:lstStyle/>
                    <a:p>
                      <a:pPr>
                        <a:buNone/>
                      </a:pPr>
                      <a:r>
                        <a:rPr lang="en-IN" sz="1600"/>
                        <a:t>Equipment → </a:t>
                      </a:r>
                      <a:r>
                        <a:rPr lang="en-IN" sz="1600">
                          <a:latin typeface="Courier New" panose="02070309020205020404" pitchFamily="49" charset="0"/>
                        </a:rPr>
                        <a:t>owner_id</a:t>
                      </a:r>
                      <a:endParaRPr lang="en-IN" sz="1600"/>
                    </a:p>
                  </a:txBody>
                  <a:tcPr marL="58802" marR="58802" marT="29401" marB="29401" anchor="ctr">
                    <a:lnL>
                      <a:noFill/>
                    </a:lnL>
                    <a:lnR>
                      <a:noFill/>
                    </a:lnR>
                    <a:lnT>
                      <a:noFill/>
                    </a:lnT>
                    <a:lnB>
                      <a:noFill/>
                    </a:lnB>
                    <a:noFill/>
                  </a:tcPr>
                </a:tc>
                <a:extLst>
                  <a:ext uri="{0D108BD9-81ED-4DB2-BD59-A6C34878D82A}">
                    <a16:rowId xmlns:a16="http://schemas.microsoft.com/office/drawing/2014/main" val="805249717"/>
                  </a:ext>
                </a:extLst>
              </a:tr>
              <a:tr h="491316">
                <a:tc>
                  <a:txBody>
                    <a:bodyPr/>
                    <a:lstStyle/>
                    <a:p>
                      <a:pPr>
                        <a:buNone/>
                      </a:pPr>
                      <a:r>
                        <a:rPr lang="en-IN" sz="1600" b="1"/>
                        <a:t>Many-to-Many Relationship</a:t>
                      </a:r>
                      <a:endParaRPr lang="en-IN" sz="1600"/>
                    </a:p>
                  </a:txBody>
                  <a:tcPr marL="58802" marR="58802" marT="29401" marB="29401" anchor="ctr">
                    <a:lnL>
                      <a:noFill/>
                    </a:lnL>
                    <a:lnR>
                      <a:noFill/>
                    </a:lnR>
                    <a:lnT>
                      <a:noFill/>
                    </a:lnT>
                    <a:lnB>
                      <a:noFill/>
                    </a:lnB>
                    <a:noFill/>
                  </a:tcPr>
                </a:tc>
                <a:tc>
                  <a:txBody>
                    <a:bodyPr/>
                    <a:lstStyle/>
                    <a:p>
                      <a:pPr>
                        <a:buNone/>
                      </a:pPr>
                      <a:r>
                        <a:rPr lang="en-US" sz="1600"/>
                        <a:t>Resolved using a bridge table (Booking).</a:t>
                      </a:r>
                    </a:p>
                  </a:txBody>
                  <a:tcPr marL="58802" marR="58802" marT="29401" marB="29401" anchor="ctr">
                    <a:lnL>
                      <a:noFill/>
                    </a:lnL>
                    <a:lnR>
                      <a:noFill/>
                    </a:lnR>
                    <a:lnT>
                      <a:noFill/>
                    </a:lnT>
                    <a:lnB>
                      <a:noFill/>
                    </a:lnB>
                    <a:noFill/>
                  </a:tcPr>
                </a:tc>
                <a:tc>
                  <a:txBody>
                    <a:bodyPr/>
                    <a:lstStyle/>
                    <a:p>
                      <a:pPr>
                        <a:buNone/>
                      </a:pPr>
                      <a:r>
                        <a:rPr lang="en-US" sz="1600">
                          <a:latin typeface="Courier New" panose="02070309020205020404" pitchFamily="49" charset="0"/>
                        </a:rPr>
                        <a:t>(farmer_id, equipment_id)</a:t>
                      </a:r>
                      <a:r>
                        <a:rPr lang="en-US" sz="1600"/>
                        <a:t> in Booking</a:t>
                      </a:r>
                    </a:p>
                  </a:txBody>
                  <a:tcPr marL="58802" marR="58802" marT="29401" marB="29401" anchor="ctr">
                    <a:lnL>
                      <a:noFill/>
                    </a:lnL>
                    <a:lnR>
                      <a:noFill/>
                    </a:lnR>
                    <a:lnT>
                      <a:noFill/>
                    </a:lnT>
                    <a:lnB>
                      <a:noFill/>
                    </a:lnB>
                    <a:noFill/>
                  </a:tcPr>
                </a:tc>
                <a:extLst>
                  <a:ext uri="{0D108BD9-81ED-4DB2-BD59-A6C34878D82A}">
                    <a16:rowId xmlns:a16="http://schemas.microsoft.com/office/drawing/2014/main" val="2869544249"/>
                  </a:ext>
                </a:extLst>
              </a:tr>
              <a:tr h="476331">
                <a:tc>
                  <a:txBody>
                    <a:bodyPr/>
                    <a:lstStyle/>
                    <a:p>
                      <a:pPr>
                        <a:buNone/>
                      </a:pPr>
                      <a:r>
                        <a:rPr lang="en-IN" sz="1600" b="1"/>
                        <a:t>One-to-One Relationship</a:t>
                      </a:r>
                      <a:endParaRPr lang="en-IN" sz="1600"/>
                    </a:p>
                  </a:txBody>
                  <a:tcPr marL="58802" marR="58802" marT="29401" marB="29401" anchor="ctr">
                    <a:lnL>
                      <a:noFill/>
                    </a:lnL>
                    <a:lnR>
                      <a:noFill/>
                    </a:lnR>
                    <a:lnT>
                      <a:noFill/>
                    </a:lnT>
                    <a:lnB>
                      <a:noFill/>
                    </a:lnB>
                    <a:noFill/>
                  </a:tcPr>
                </a:tc>
                <a:tc>
                  <a:txBody>
                    <a:bodyPr/>
                    <a:lstStyle/>
                    <a:p>
                      <a:pPr>
                        <a:buNone/>
                      </a:pPr>
                      <a:r>
                        <a:rPr lang="en-US" sz="1600"/>
                        <a:t>Each booking has exactly one payment.</a:t>
                      </a:r>
                    </a:p>
                  </a:txBody>
                  <a:tcPr marL="58802" marR="58802" marT="29401" marB="29401" anchor="ctr">
                    <a:lnL>
                      <a:noFill/>
                    </a:lnL>
                    <a:lnR>
                      <a:noFill/>
                    </a:lnR>
                    <a:lnT>
                      <a:noFill/>
                    </a:lnT>
                    <a:lnB>
                      <a:noFill/>
                    </a:lnB>
                    <a:noFill/>
                  </a:tcPr>
                </a:tc>
                <a:tc>
                  <a:txBody>
                    <a:bodyPr/>
                    <a:lstStyle/>
                    <a:p>
                      <a:pPr>
                        <a:buNone/>
                      </a:pPr>
                      <a:r>
                        <a:rPr lang="en-US" sz="1600">
                          <a:latin typeface="Courier New" panose="02070309020205020404" pitchFamily="49" charset="0"/>
                        </a:rPr>
                        <a:t>booking_id UNIQUE</a:t>
                      </a:r>
                      <a:r>
                        <a:rPr lang="en-US" sz="1600"/>
                        <a:t> in Payment</a:t>
                      </a:r>
                    </a:p>
                  </a:txBody>
                  <a:tcPr marL="58802" marR="58802" marT="29401" marB="29401" anchor="ctr">
                    <a:lnL>
                      <a:noFill/>
                    </a:lnL>
                    <a:lnR>
                      <a:noFill/>
                    </a:lnR>
                    <a:lnT>
                      <a:noFill/>
                    </a:lnT>
                    <a:lnB>
                      <a:noFill/>
                    </a:lnB>
                    <a:noFill/>
                  </a:tcPr>
                </a:tc>
                <a:extLst>
                  <a:ext uri="{0D108BD9-81ED-4DB2-BD59-A6C34878D82A}">
                    <a16:rowId xmlns:a16="http://schemas.microsoft.com/office/drawing/2014/main" val="1924754640"/>
                  </a:ext>
                </a:extLst>
              </a:tr>
              <a:tr h="476331">
                <a:tc>
                  <a:txBody>
                    <a:bodyPr/>
                    <a:lstStyle/>
                    <a:p>
                      <a:pPr>
                        <a:buNone/>
                      </a:pPr>
                      <a:r>
                        <a:rPr lang="en-IN" sz="1600" b="1"/>
                        <a:t>NOT NULL Constraint</a:t>
                      </a:r>
                      <a:endParaRPr lang="en-IN" sz="1600"/>
                    </a:p>
                  </a:txBody>
                  <a:tcPr marL="58802" marR="58802" marT="29401" marB="29401" anchor="ctr">
                    <a:lnL>
                      <a:noFill/>
                    </a:lnL>
                    <a:lnR>
                      <a:noFill/>
                    </a:lnR>
                    <a:lnT>
                      <a:noFill/>
                    </a:lnT>
                    <a:lnB>
                      <a:noFill/>
                    </a:lnB>
                    <a:noFill/>
                  </a:tcPr>
                </a:tc>
                <a:tc>
                  <a:txBody>
                    <a:bodyPr/>
                    <a:lstStyle/>
                    <a:p>
                      <a:pPr>
                        <a:buNone/>
                      </a:pPr>
                      <a:r>
                        <a:rPr lang="en-US" sz="1600"/>
                        <a:t>Ensures mandatory fields are not empty.</a:t>
                      </a:r>
                    </a:p>
                  </a:txBody>
                  <a:tcPr marL="58802" marR="58802" marT="29401" marB="29401" anchor="ctr">
                    <a:lnL>
                      <a:noFill/>
                    </a:lnL>
                    <a:lnR>
                      <a:noFill/>
                    </a:lnR>
                    <a:lnT>
                      <a:noFill/>
                    </a:lnT>
                    <a:lnB>
                      <a:noFill/>
                    </a:lnB>
                    <a:noFill/>
                  </a:tcPr>
                </a:tc>
                <a:tc>
                  <a:txBody>
                    <a:bodyPr/>
                    <a:lstStyle/>
                    <a:p>
                      <a:pPr>
                        <a:buNone/>
                      </a:pPr>
                      <a:r>
                        <a:rPr lang="en-US" sz="1600">
                          <a:latin typeface="Courier New" panose="02070309020205020404" pitchFamily="49" charset="0"/>
                        </a:rPr>
                        <a:t>name VARCHAR(100) NOT NULL</a:t>
                      </a:r>
                      <a:endParaRPr lang="en-US" sz="1600"/>
                    </a:p>
                  </a:txBody>
                  <a:tcPr marL="58802" marR="58802" marT="29401" marB="29401" anchor="ctr">
                    <a:lnL>
                      <a:noFill/>
                    </a:lnL>
                    <a:lnR>
                      <a:noFill/>
                    </a:lnR>
                    <a:lnT>
                      <a:noFill/>
                    </a:lnT>
                    <a:lnB>
                      <a:noFill/>
                    </a:lnB>
                    <a:noFill/>
                  </a:tcPr>
                </a:tc>
                <a:extLst>
                  <a:ext uri="{0D108BD9-81ED-4DB2-BD59-A6C34878D82A}">
                    <a16:rowId xmlns:a16="http://schemas.microsoft.com/office/drawing/2014/main" val="2606368746"/>
                  </a:ext>
                </a:extLst>
              </a:tr>
              <a:tr h="279682">
                <a:tc>
                  <a:txBody>
                    <a:bodyPr/>
                    <a:lstStyle/>
                    <a:p>
                      <a:pPr>
                        <a:buNone/>
                      </a:pPr>
                      <a:r>
                        <a:rPr lang="en-IN" sz="1600" b="1"/>
                        <a:t>UNIQUE Constraint</a:t>
                      </a:r>
                      <a:endParaRPr lang="en-IN" sz="1600"/>
                    </a:p>
                  </a:txBody>
                  <a:tcPr marL="58802" marR="58802" marT="29401" marB="29401" anchor="ctr">
                    <a:lnL>
                      <a:noFill/>
                    </a:lnL>
                    <a:lnR>
                      <a:noFill/>
                    </a:lnR>
                    <a:lnT>
                      <a:noFill/>
                    </a:lnT>
                    <a:lnB>
                      <a:noFill/>
                    </a:lnB>
                    <a:noFill/>
                  </a:tcPr>
                </a:tc>
                <a:tc>
                  <a:txBody>
                    <a:bodyPr/>
                    <a:lstStyle/>
                    <a:p>
                      <a:pPr>
                        <a:buNone/>
                      </a:pPr>
                      <a:r>
                        <a:rPr lang="en-IN" sz="1600"/>
                        <a:t>Prevents duplicate values.</a:t>
                      </a:r>
                    </a:p>
                  </a:txBody>
                  <a:tcPr marL="58802" marR="58802" marT="29401" marB="29401" anchor="ctr">
                    <a:lnL>
                      <a:noFill/>
                    </a:lnL>
                    <a:lnR>
                      <a:noFill/>
                    </a:lnR>
                    <a:lnT>
                      <a:noFill/>
                    </a:lnT>
                    <a:lnB>
                      <a:noFill/>
                    </a:lnB>
                    <a:noFill/>
                  </a:tcPr>
                </a:tc>
                <a:tc>
                  <a:txBody>
                    <a:bodyPr/>
                    <a:lstStyle/>
                    <a:p>
                      <a:pPr>
                        <a:buNone/>
                      </a:pPr>
                      <a:r>
                        <a:rPr lang="en-IN" sz="1600">
                          <a:latin typeface="Courier New" panose="02070309020205020404" pitchFamily="49" charset="0"/>
                        </a:rPr>
                        <a:t>email UNIQUE</a:t>
                      </a:r>
                      <a:endParaRPr lang="en-IN" sz="1600"/>
                    </a:p>
                  </a:txBody>
                  <a:tcPr marL="58802" marR="58802" marT="29401" marB="29401" anchor="ctr">
                    <a:lnL>
                      <a:noFill/>
                    </a:lnL>
                    <a:lnR>
                      <a:noFill/>
                    </a:lnR>
                    <a:lnT>
                      <a:noFill/>
                    </a:lnT>
                    <a:lnB>
                      <a:noFill/>
                    </a:lnB>
                    <a:noFill/>
                  </a:tcPr>
                </a:tc>
                <a:extLst>
                  <a:ext uri="{0D108BD9-81ED-4DB2-BD59-A6C34878D82A}">
                    <a16:rowId xmlns:a16="http://schemas.microsoft.com/office/drawing/2014/main" val="4221189033"/>
                  </a:ext>
                </a:extLst>
              </a:tr>
              <a:tr h="476331">
                <a:tc>
                  <a:txBody>
                    <a:bodyPr/>
                    <a:lstStyle/>
                    <a:p>
                      <a:pPr>
                        <a:buNone/>
                      </a:pPr>
                      <a:r>
                        <a:rPr lang="en-IN" sz="1600" b="1"/>
                        <a:t>CHECK Constraint</a:t>
                      </a:r>
                      <a:endParaRPr lang="en-IN" sz="1600"/>
                    </a:p>
                  </a:txBody>
                  <a:tcPr marL="58802" marR="58802" marT="29401" marB="29401" anchor="ctr">
                    <a:lnL>
                      <a:noFill/>
                    </a:lnL>
                    <a:lnR>
                      <a:noFill/>
                    </a:lnR>
                    <a:lnT>
                      <a:noFill/>
                    </a:lnT>
                    <a:lnB>
                      <a:noFill/>
                    </a:lnB>
                    <a:noFill/>
                  </a:tcPr>
                </a:tc>
                <a:tc>
                  <a:txBody>
                    <a:bodyPr/>
                    <a:lstStyle/>
                    <a:p>
                      <a:pPr>
                        <a:buNone/>
                      </a:pPr>
                      <a:r>
                        <a:rPr lang="en-US" sz="1600"/>
                        <a:t>Restricts values within a range or condition.</a:t>
                      </a:r>
                    </a:p>
                  </a:txBody>
                  <a:tcPr marL="58802" marR="58802" marT="29401" marB="29401" anchor="ctr">
                    <a:lnL>
                      <a:noFill/>
                    </a:lnL>
                    <a:lnR>
                      <a:noFill/>
                    </a:lnR>
                    <a:lnT>
                      <a:noFill/>
                    </a:lnT>
                    <a:lnB>
                      <a:noFill/>
                    </a:lnB>
                    <a:noFill/>
                  </a:tcPr>
                </a:tc>
                <a:tc>
                  <a:txBody>
                    <a:bodyPr/>
                    <a:lstStyle/>
                    <a:p>
                      <a:pPr>
                        <a:buNone/>
                      </a:pPr>
                      <a:r>
                        <a:rPr lang="en-US" sz="1600">
                          <a:latin typeface="Courier New" panose="02070309020205020404" pitchFamily="49" charset="0"/>
                        </a:rPr>
                        <a:t>rating BETWEEN 1 AND 5</a:t>
                      </a:r>
                      <a:endParaRPr lang="en-US" sz="1600"/>
                    </a:p>
                  </a:txBody>
                  <a:tcPr marL="58802" marR="58802" marT="29401" marB="29401" anchor="ctr">
                    <a:lnL>
                      <a:noFill/>
                    </a:lnL>
                    <a:lnR>
                      <a:noFill/>
                    </a:lnR>
                    <a:lnT>
                      <a:noFill/>
                    </a:lnT>
                    <a:lnB>
                      <a:noFill/>
                    </a:lnB>
                    <a:noFill/>
                  </a:tcPr>
                </a:tc>
                <a:extLst>
                  <a:ext uri="{0D108BD9-81ED-4DB2-BD59-A6C34878D82A}">
                    <a16:rowId xmlns:a16="http://schemas.microsoft.com/office/drawing/2014/main" val="2855253201"/>
                  </a:ext>
                </a:extLst>
              </a:tr>
              <a:tr h="476331">
                <a:tc>
                  <a:txBody>
                    <a:bodyPr/>
                    <a:lstStyle/>
                    <a:p>
                      <a:pPr>
                        <a:buNone/>
                      </a:pPr>
                      <a:r>
                        <a:rPr lang="en-IN" sz="1600" b="1"/>
                        <a:t>DEFAULT Constraint</a:t>
                      </a:r>
                      <a:endParaRPr lang="en-IN" sz="1600"/>
                    </a:p>
                  </a:txBody>
                  <a:tcPr marL="58802" marR="58802" marT="29401" marB="29401" anchor="ctr">
                    <a:lnL>
                      <a:noFill/>
                    </a:lnL>
                    <a:lnR>
                      <a:noFill/>
                    </a:lnR>
                    <a:lnT>
                      <a:noFill/>
                    </a:lnT>
                    <a:lnB>
                      <a:noFill/>
                    </a:lnB>
                    <a:noFill/>
                  </a:tcPr>
                </a:tc>
                <a:tc>
                  <a:txBody>
                    <a:bodyPr/>
                    <a:lstStyle/>
                    <a:p>
                      <a:pPr>
                        <a:buNone/>
                      </a:pPr>
                      <a:r>
                        <a:rPr lang="en-US" sz="1600"/>
                        <a:t>Assigns default values if none provided.</a:t>
                      </a:r>
                    </a:p>
                  </a:txBody>
                  <a:tcPr marL="58802" marR="58802" marT="29401" marB="29401" anchor="ctr">
                    <a:lnL>
                      <a:noFill/>
                    </a:lnL>
                    <a:lnR>
                      <a:noFill/>
                    </a:lnR>
                    <a:lnT>
                      <a:noFill/>
                    </a:lnT>
                    <a:lnB>
                      <a:noFill/>
                    </a:lnB>
                    <a:noFill/>
                  </a:tcPr>
                </a:tc>
                <a:tc>
                  <a:txBody>
                    <a:bodyPr/>
                    <a:lstStyle/>
                    <a:p>
                      <a:pPr>
                        <a:buNone/>
                      </a:pPr>
                      <a:r>
                        <a:rPr lang="en-IN" sz="1600" dirty="0">
                          <a:latin typeface="Courier New" panose="02070309020205020404" pitchFamily="49" charset="0"/>
                        </a:rPr>
                        <a:t>status DEFAULT 'Pending'</a:t>
                      </a:r>
                      <a:endParaRPr lang="en-IN" sz="1600" dirty="0"/>
                    </a:p>
                  </a:txBody>
                  <a:tcPr marL="58802" marR="58802" marT="29401" marB="29401" anchor="ctr">
                    <a:lnL>
                      <a:noFill/>
                    </a:lnL>
                    <a:lnR>
                      <a:noFill/>
                    </a:lnR>
                    <a:lnT>
                      <a:noFill/>
                    </a:lnT>
                    <a:lnB>
                      <a:noFill/>
                    </a:lnB>
                    <a:noFill/>
                  </a:tcPr>
                </a:tc>
                <a:extLst>
                  <a:ext uri="{0D108BD9-81ED-4DB2-BD59-A6C34878D82A}">
                    <a16:rowId xmlns:a16="http://schemas.microsoft.com/office/drawing/2014/main" val="3914867797"/>
                  </a:ext>
                </a:extLst>
              </a:tr>
            </a:tbl>
          </a:graphicData>
        </a:graphic>
      </p:graphicFrame>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animEffect transition="in" filter="circle(in)">
                                      <p:cBhvr>
                                        <p:cTn id="6" dur="1000"/>
                                        <p:tgtEl>
                                          <p:spTgt spid="9"/>
                                        </p:tgtEl>
                                      </p:cBhvr>
                                    </p:animEffect>
                                    <p:set>
                                      <p:cBhvr>
                                        <p:cTn id="7" dur="1000"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457200" y="1371600"/>
            <a:ext cx="11277600" cy="2971800"/>
          </a:xfrm>
          <a:prstGeom prst="rect">
            <a:avLst/>
          </a:prstGeom>
        </p:spPr>
        <p:txBody>
          <a:bodyPr vert="horz" wrap="square" lIns="90170" tIns="46990" rIns="90170" bIns="46990" rtlCol="0" anchor="t">
            <a:normAutofit/>
          </a:bodyPr>
          <a:lstStyle/>
          <a:p>
            <a:r>
              <a:rPr lang="en-US" sz="1600" dirty="0"/>
              <a:t>The system uses DDL (Data Definition Language) to define and modify the database structure, and DML (Data Manipulation Language) to manage the data stored in the tables. </a:t>
            </a:r>
          </a:p>
          <a:p>
            <a:endParaRPr lang="en-US" sz="1600" dirty="0"/>
          </a:p>
          <a:p>
            <a:pPr marL="285750" indent="-285750">
              <a:buFont typeface="Wingdings" panose="05000000000000000000" pitchFamily="2" charset="2"/>
              <a:buChar char="Ø"/>
            </a:pPr>
            <a:r>
              <a:rPr lang="en-US" sz="1600" dirty="0"/>
              <a:t>DDL operations are used to create tables and define their structure, such as creating tables for users, equipment, and bookings, and modifying them by adding new attributes when required.</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DML operations are used to handle data within these tables. For example, new users or equipment can be added to the system, booking details can be updated when a rental is completed, and unnecessary records such as reviews can be removed.</a:t>
            </a:r>
          </a:p>
          <a:p>
            <a:endParaRPr lang="en-US" sz="1600" dirty="0"/>
          </a:p>
          <a:p>
            <a:r>
              <a:rPr lang="en-US" sz="1600" dirty="0"/>
              <a:t>These operations ensure that the database structure is well-defined and that the data remains accurate and up-to-date throughout the system.</a:t>
            </a:r>
          </a:p>
        </p:txBody>
      </p:sp>
      <p:sp>
        <p:nvSpPr>
          <p:cNvPr id="5" name="Freeform 5"/>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F27300"/>
          </a:solidFill>
        </p:spPr>
      </p:sp>
      <p:sp>
        <p:nvSpPr>
          <p:cNvPr id="6" name="TextBox 6"/>
          <p:cNvSpPr txBox="1"/>
          <p:nvPr/>
        </p:nvSpPr>
        <p:spPr>
          <a:xfrm>
            <a:off x="696000" y="325448"/>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F27300"/>
                </a:solidFill>
                <a:latin typeface="思源黑体 Normal"/>
                <a:ea typeface="思源黑体 Normal"/>
              </a:rPr>
              <a:t>DDL &amp; DML</a:t>
            </a:r>
            <a:endParaRPr lang="en-US" sz="1100" dirty="0"/>
          </a:p>
        </p:txBody>
      </p:sp>
      <p:pic>
        <p:nvPicPr>
          <p:cNvPr id="7" name="Picture 6">
            <a:extLst>
              <a:ext uri="{FF2B5EF4-FFF2-40B4-BE49-F238E27FC236}">
                <a16:creationId xmlns:a16="http://schemas.microsoft.com/office/drawing/2014/main" id="{C04A2E93-19EC-D4BA-4F31-D0B2FCE82A08}"/>
              </a:ext>
            </a:extLst>
          </p:cNvPr>
          <p:cNvPicPr>
            <a:picLocks noChangeAspect="1"/>
          </p:cNvPicPr>
          <p:nvPr/>
        </p:nvPicPr>
        <p:blipFill>
          <a:blip r:embed="rId3"/>
          <a:stretch>
            <a:fillRect/>
          </a:stretch>
        </p:blipFill>
        <p:spPr>
          <a:xfrm>
            <a:off x="5334000" y="5383611"/>
            <a:ext cx="6613738" cy="1148941"/>
          </a:xfrm>
          <a:prstGeom prst="rect">
            <a:avLst/>
          </a:prstGeom>
        </p:spPr>
      </p:pic>
      <p:pic>
        <p:nvPicPr>
          <p:cNvPr id="8" name="Picture 7">
            <a:extLst>
              <a:ext uri="{FF2B5EF4-FFF2-40B4-BE49-F238E27FC236}">
                <a16:creationId xmlns:a16="http://schemas.microsoft.com/office/drawing/2014/main" id="{F1439F4D-04AB-0917-F641-E84133F89F9F}"/>
              </a:ext>
            </a:extLst>
          </p:cNvPr>
          <p:cNvPicPr>
            <a:picLocks noChangeAspect="1"/>
          </p:cNvPicPr>
          <p:nvPr/>
        </p:nvPicPr>
        <p:blipFill>
          <a:blip r:embed="rId4"/>
          <a:stretch>
            <a:fillRect/>
          </a:stretch>
        </p:blipFill>
        <p:spPr>
          <a:xfrm>
            <a:off x="609600" y="4267200"/>
            <a:ext cx="6578484" cy="984659"/>
          </a:xfrm>
          <a:prstGeom prst="rect">
            <a:avLst/>
          </a:prstGeom>
        </p:spPr>
      </p:pic>
    </p:spTree>
  </p:cSld>
  <p:clrMapOvr>
    <a:masterClrMapping/>
  </p:clrMapOvr>
  <p:transition spd="slow">
    <p:wheel spokes="8"/>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anim calcmode="lin" valueType="num">
                                      <p:cBhvr additive="base">
                                        <p:cTn id="6" dur="500"/>
                                        <p:tgtEl>
                                          <p:spTgt spid="6"/>
                                        </p:tgtEl>
                                        <p:attrNameLst>
                                          <p:attrName>ppt_y</p:attrName>
                                        </p:attrNameLst>
                                      </p:cBhvr>
                                      <p:tavLst>
                                        <p:tav tm="0">
                                          <p:val>
                                            <p:strVal val="#ppt_y+#ppt_h*1.125000"/>
                                          </p:val>
                                        </p:tav>
                                        <p:tav tm="100000">
                                          <p:val>
                                            <p:strVal val="#ppt_y"/>
                                          </p:val>
                                        </p:tav>
                                      </p:tavLst>
                                    </p:anim>
                                    <p:animEffect transition="in" filter="wipe(up)">
                                      <p:cBhvr>
                                        <p:cTn id="7" dur="500"/>
                                        <p:tgtEl>
                                          <p:spTgt spid="6"/>
                                        </p:tgtEl>
                                      </p:cBhvr>
                                    </p:animEffect>
                                    <p:set>
                                      <p:cBhvr>
                                        <p:cTn id="8" dur="500" fill="hold">
                                          <p:stCondLst>
                                            <p:cond delay="0"/>
                                          </p:stCondLst>
                                        </p:cTn>
                                        <p:tgtEl>
                                          <p:spTgt spid="6"/>
                                        </p:tgtEl>
                                        <p:attrNameLst>
                                          <p:attrName>style.visibility</p:attrName>
                                        </p:attrNameLst>
                                      </p:cBhvr>
                                      <p:to>
                                        <p:strVal val="visible"/>
                                      </p:to>
                                    </p:set>
                                  </p:childTnLst>
                                </p:cTn>
                              </p:par>
                            </p:childTnLst>
                          </p:cTn>
                        </p:par>
                        <p:par>
                          <p:cTn id="9" fill="hold">
                            <p:stCondLst>
                              <p:cond delay="500"/>
                            </p:stCondLst>
                            <p:childTnLst>
                              <p:par>
                                <p:cTn id="10" presetID="16" presetClass="entr" presetSubtype="26" fill="hold" nodeType="afterEffect">
                                  <p:stCondLst>
                                    <p:cond delay="0"/>
                                  </p:stCondLst>
                                  <p:childTnLst>
                                    <p:animEffect transition="in" filter="barn(inHorizontal)">
                                      <p:cBhvr>
                                        <p:cTn id="11" dur="500"/>
                                        <p:tgtEl>
                                          <p:spTgt spid="3"/>
                                        </p:tgtEl>
                                      </p:cBhvr>
                                    </p:animEffect>
                                    <p:set>
                                      <p:cBhvr>
                                        <p:cTn id="12" dur="5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6767830" y="2012950"/>
            <a:ext cx="3902710" cy="721360"/>
          </a:xfrm>
          <a:prstGeom prst="rect">
            <a:avLst/>
          </a:prstGeom>
          <a:noFill/>
          <a:ln>
            <a:noFill/>
          </a:ln>
        </p:spPr>
        <p:txBody>
          <a:bodyPr vert="horz" lIns="91440" tIns="45720" rIns="91440" bIns="45720" rtlCol="0" anchor="ctr">
            <a:noAutofit/>
          </a:bodyPr>
          <a:lstStyle/>
          <a:p>
            <a:pPr marL="0" marR="0" indent="0" algn="r" fontAlgn="auto">
              <a:lnSpc>
                <a:spcPct val="120000"/>
              </a:lnSpc>
              <a:spcBef>
                <a:spcPct val="0"/>
              </a:spcBef>
              <a:spcAft>
                <a:spcPct val="0"/>
              </a:spcAft>
              <a:buNone/>
              <a:defRPr/>
            </a:pPr>
            <a:r>
              <a:rPr lang="en-US" sz="4800" b="0" i="0" u="none" spc="400" baseline="0">
                <a:ln/>
                <a:solidFill>
                  <a:srgbClr val="F27300"/>
                </a:solidFill>
                <a:effectLst/>
                <a:latin typeface="思源黑体 Medium"/>
                <a:ea typeface="思源黑体 Medium"/>
              </a:rPr>
              <a:t>PART   04     </a:t>
            </a:r>
            <a:endParaRPr lang="en-US" sz="1100"/>
          </a:p>
        </p:txBody>
      </p:sp>
      <p:sp>
        <p:nvSpPr>
          <p:cNvPr id="3" name="TextBox 3"/>
          <p:cNvSpPr txBox="1"/>
          <p:nvPr/>
        </p:nvSpPr>
        <p:spPr>
          <a:xfrm>
            <a:off x="3771265" y="2889885"/>
            <a:ext cx="6899275" cy="2569210"/>
          </a:xfrm>
          <a:prstGeom prst="rect">
            <a:avLst/>
          </a:prstGeom>
          <a:noFill/>
          <a:ln>
            <a:noFill/>
          </a:ln>
        </p:spPr>
        <p:txBody>
          <a:bodyPr vert="horz" lIns="91440" tIns="45720" rIns="91440" bIns="45720" rtlCol="0" anchor="t">
            <a:normAutofit/>
          </a:bodyPr>
          <a:lstStyle/>
          <a:p>
            <a:pPr marL="0" indent="0" algn="r" fontAlgn="auto">
              <a:lnSpc>
                <a:spcPct val="120000"/>
              </a:lnSpc>
              <a:spcBef>
                <a:spcPct val="0"/>
              </a:spcBef>
              <a:buNone/>
              <a:defRPr/>
            </a:pPr>
            <a:r>
              <a:rPr lang="en-US" sz="4800" b="0" i="0" u="none" spc="400" baseline="0">
                <a:solidFill>
                  <a:srgbClr val="F27300"/>
                </a:solidFill>
                <a:latin typeface="思源黑体 Medium"/>
                <a:ea typeface="思源黑体 Medium"/>
              </a:rPr>
              <a:t>Data Analysis and Queries</a:t>
            </a:r>
            <a:endParaRPr lang="en-US" sz="110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nodeType="afterEffect">
                                  <p:stCondLst>
                                    <p:cond delay="0"/>
                                  </p:stCondLst>
                                  <p:childTnLst>
                                    <p:anim calcmode="lin" valueType="num">
                                      <p:cBhvr additive="base">
                                        <p:cTn id="6" dur="500" fill="hold"/>
                                        <p:tgtEl>
                                          <p:spTgt spid="2"/>
                                        </p:tgtEl>
                                        <p:attrNameLst>
                                          <p:attrName>ppt_x</p:attrName>
                                        </p:attrNameLst>
                                      </p:cBhvr>
                                      <p:tavLst>
                                        <p:tav tm="0">
                                          <p:val>
                                            <p:strVal val="#ppt_x+#ppt_w/2"/>
                                          </p:val>
                                        </p:tav>
                                        <p:tav tm="100000">
                                          <p:val>
                                            <p:strVal val="#ppt_x"/>
                                          </p:val>
                                        </p:tav>
                                      </p:tavLst>
                                    </p:anim>
                                    <p:anim calcmode="lin" valueType="num">
                                      <p:cBhvr additive="base">
                                        <p:cTn id="7" dur="500" fill="hold"/>
                                        <p:tgtEl>
                                          <p:spTgt spid="2"/>
                                        </p:tgtEl>
                                        <p:attrNameLst>
                                          <p:attrName>ppt_y</p:attrName>
                                        </p:attrNameLst>
                                      </p:cBhvr>
                                      <p:tavLst>
                                        <p:tav tm="0">
                                          <p:val>
                                            <p:strVal val="#ppt_y"/>
                                          </p:val>
                                        </p:tav>
                                        <p:tav tm="100000">
                                          <p:val>
                                            <p:strVal val="#ppt_y"/>
                                          </p:val>
                                        </p:tav>
                                      </p:tavLst>
                                    </p:anim>
                                    <p:anim calcmode="lin" valueType="num">
                                      <p:cBhvr additive="base">
                                        <p:cTn id="8" dur="500" fill="hold"/>
                                        <p:tgtEl>
                                          <p:spTgt spid="2"/>
                                        </p:tgtEl>
                                        <p:attrNameLst>
                                          <p:attrName>ppt_w</p:attrName>
                                        </p:attrNameLst>
                                      </p:cBhvr>
                                      <p:tavLst>
                                        <p:tav tm="0">
                                          <p:val>
                                            <p:fltVal val="0"/>
                                          </p:val>
                                        </p:tav>
                                        <p:tav tm="100000">
                                          <p:val>
                                            <p:strVal val="#ppt_w"/>
                                          </p:val>
                                        </p:tav>
                                      </p:tavLst>
                                    </p:anim>
                                    <p:anim calcmode="lin" valueType="num">
                                      <p:cBhvr additive="base">
                                        <p:cTn id="9" dur="500" fill="hold"/>
                                        <p:tgtEl>
                                          <p:spTgt spid="2"/>
                                        </p:tgtEl>
                                        <p:attrNameLst>
                                          <p:attrName>ppt_h</p:attrName>
                                        </p:attrNameLst>
                                      </p:cBhvr>
                                      <p:tavLst>
                                        <p:tav tm="0">
                                          <p:val>
                                            <p:strVal val="#ppt_h"/>
                                          </p:val>
                                        </p:tav>
                                        <p:tav tm="100000">
                                          <p:val>
                                            <p:strVal val="#ppt_h"/>
                                          </p:val>
                                        </p:tav>
                                      </p:tavLst>
                                    </p:anim>
                                    <p:set>
                                      <p:cBhvr additive="base">
                                        <p:cTn id="10" dur="500" fill="hold">
                                          <p:stCondLst>
                                            <p:cond delay="0"/>
                                          </p:stCondLst>
                                        </p:cTn>
                                        <p:tgtEl>
                                          <p:spTgt spid="2"/>
                                        </p:tgtEl>
                                        <p:attrNameLst>
                                          <p:attrName>style.visibility</p:attrName>
                                        </p:attrNameLst>
                                      </p:cBhvr>
                                      <p:to>
                                        <p:strVal val="visible"/>
                                      </p:to>
                                    </p:set>
                                  </p:childTnLst>
                                </p:cTn>
                              </p:par>
                            </p:childTnLst>
                          </p:cTn>
                        </p:par>
                        <p:par>
                          <p:cTn id="11" fill="hold">
                            <p:stCondLst>
                              <p:cond delay="0"/>
                            </p:stCondLst>
                            <p:childTnLst>
                              <p:par>
                                <p:cTn id="12" presetID="8" presetClass="entr" presetSubtype="16" fill="hold" nodeType="afterEffect">
                                  <p:stCondLst>
                                    <p:cond delay="0"/>
                                  </p:stCondLst>
                                  <p:childTnLst>
                                    <p:animEffect transition="in" filter="diamond(in)">
                                      <p:cBhvr>
                                        <p:cTn id="13" dur="1000"/>
                                        <p:tgtEl>
                                          <p:spTgt spid="3"/>
                                        </p:tgtEl>
                                      </p:cBhvr>
                                    </p:animEffect>
                                    <p:set>
                                      <p:cBhvr>
                                        <p:cTn id="14" dur="10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533401" y="1219200"/>
            <a:ext cx="11201400" cy="3505200"/>
          </a:xfrm>
          <a:prstGeom prst="rect">
            <a:avLst/>
          </a:prstGeom>
        </p:spPr>
        <p:txBody>
          <a:bodyPr vert="horz" wrap="square" lIns="90170" tIns="46990" rIns="90170" bIns="46990" rtlCol="0" anchor="t">
            <a:normAutofit/>
          </a:bodyPr>
          <a:lstStyle/>
          <a:p>
            <a:r>
              <a:rPr lang="en-US" sz="1600" dirty="0"/>
              <a:t>SQL queries use joins to combine data from multiple tables and aggregate functions to analyze and summarize the stored data. </a:t>
            </a:r>
          </a:p>
          <a:p>
            <a:endParaRPr lang="en-US" sz="1600" dirty="0"/>
          </a:p>
          <a:p>
            <a:pPr marL="285750" indent="-285750">
              <a:buFont typeface="Wingdings" panose="05000000000000000000" pitchFamily="2" charset="2"/>
              <a:buChar char="Ø"/>
            </a:pPr>
            <a:r>
              <a:rPr lang="en-US" sz="1600" dirty="0"/>
              <a:t>Joins such as INNER JOIN are used to retrieve matching records, for example combining farmer, equipment, and booking details. </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LEFT JOIN is used to include all users, even those who have not made any bookings.</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Aggregate functions like COUNT, SUM, and AVG are used to perform calculations such as finding the total number of bookings, calculating overall revenue, and determining the average price of equipment.</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GROUP BY is used to organize data into categories, while HAVING is used to filter grouped results based on specific conditions.</a:t>
            </a:r>
          </a:p>
          <a:p>
            <a:endParaRPr lang="en-US" sz="1600" dirty="0"/>
          </a:p>
          <a:p>
            <a:r>
              <a:rPr lang="en-US" sz="1600" dirty="0"/>
              <a:t>These operations help in extracting meaningful insights from the database and support better decision-making.</a:t>
            </a:r>
          </a:p>
        </p:txBody>
      </p:sp>
      <p:sp>
        <p:nvSpPr>
          <p:cNvPr id="8" name="Freeform 8"/>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F27300"/>
          </a:solidFill>
        </p:spPr>
      </p:sp>
      <p:sp>
        <p:nvSpPr>
          <p:cNvPr id="9" name="TextBox 9"/>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a:ln/>
                <a:solidFill>
                  <a:srgbClr val="F27300"/>
                </a:solidFill>
                <a:latin typeface="思源黑体 Normal"/>
                <a:ea typeface="思源黑体 Normal"/>
              </a:rPr>
              <a:t>Joins &amp; Aggregates</a:t>
            </a:r>
            <a:endParaRPr lang="en-US" sz="1100"/>
          </a:p>
        </p:txBody>
      </p:sp>
      <p:pic>
        <p:nvPicPr>
          <p:cNvPr id="11" name="Picture 10">
            <a:extLst>
              <a:ext uri="{FF2B5EF4-FFF2-40B4-BE49-F238E27FC236}">
                <a16:creationId xmlns:a16="http://schemas.microsoft.com/office/drawing/2014/main" id="{285D8B8D-CE06-43DE-1CEB-5DE0E2ECB33B}"/>
              </a:ext>
            </a:extLst>
          </p:cNvPr>
          <p:cNvPicPr>
            <a:picLocks noChangeAspect="1"/>
          </p:cNvPicPr>
          <p:nvPr/>
        </p:nvPicPr>
        <p:blipFill>
          <a:blip r:embed="rId3"/>
          <a:stretch>
            <a:fillRect/>
          </a:stretch>
        </p:blipFill>
        <p:spPr>
          <a:xfrm>
            <a:off x="486696" y="4343347"/>
            <a:ext cx="7421011" cy="762106"/>
          </a:xfrm>
          <a:prstGeom prst="rect">
            <a:avLst/>
          </a:prstGeom>
        </p:spPr>
      </p:pic>
      <p:pic>
        <p:nvPicPr>
          <p:cNvPr id="13" name="Picture 12">
            <a:extLst>
              <a:ext uri="{FF2B5EF4-FFF2-40B4-BE49-F238E27FC236}">
                <a16:creationId xmlns:a16="http://schemas.microsoft.com/office/drawing/2014/main" id="{1D9F3E19-6FD7-F39E-F8F8-9345E8592157}"/>
              </a:ext>
            </a:extLst>
          </p:cNvPr>
          <p:cNvPicPr>
            <a:picLocks noChangeAspect="1"/>
          </p:cNvPicPr>
          <p:nvPr/>
        </p:nvPicPr>
        <p:blipFill>
          <a:blip r:embed="rId4"/>
          <a:stretch>
            <a:fillRect/>
          </a:stretch>
        </p:blipFill>
        <p:spPr>
          <a:xfrm>
            <a:off x="4419600" y="5338583"/>
            <a:ext cx="7411484" cy="1209844"/>
          </a:xfrm>
          <a:prstGeom prst="rect">
            <a:avLst/>
          </a:prstGeom>
        </p:spPr>
      </p:pic>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animEffect transition="in" filter="barn(outHorizontal)">
                                      <p:cBhvr>
                                        <p:cTn id="6" dur="500"/>
                                        <p:tgtEl>
                                          <p:spTgt spid="9"/>
                                        </p:tgtEl>
                                      </p:cBhvr>
                                    </p:animEffect>
                                    <p:set>
                                      <p:cBhvr>
                                        <p:cTn id="7" dur="500" fill="hold">
                                          <p:stCondLst>
                                            <p:cond delay="0"/>
                                          </p:stCondLst>
                                        </p:cTn>
                                        <p:tgtEl>
                                          <p:spTgt spid="9"/>
                                        </p:tgtEl>
                                        <p:attrNameLst>
                                          <p:attrName>style.visibility</p:attrName>
                                        </p:attrNameLst>
                                      </p:cBhvr>
                                      <p:to>
                                        <p:strVal val="visible"/>
                                      </p:to>
                                    </p:set>
                                  </p:childTnLst>
                                </p:cTn>
                              </p:par>
                            </p:childTnLst>
                          </p:cTn>
                        </p:par>
                        <p:par>
                          <p:cTn id="8" fill="hold">
                            <p:stCondLst>
                              <p:cond delay="500"/>
                            </p:stCondLst>
                            <p:childTnLst>
                              <p:par>
                                <p:cTn id="9" presetID="12" presetClass="entr" presetSubtype="8" fill="hold" nodeType="afterEffect">
                                  <p:stCondLst>
                                    <p:cond delay="0"/>
                                  </p:stCondLst>
                                  <p:childTnLst>
                                    <p:anim calcmode="lin" valueType="num">
                                      <p:cBhvr additive="base">
                                        <p:cTn id="10" dur="500"/>
                                        <p:tgtEl>
                                          <p:spTgt spid="6"/>
                                        </p:tgtEl>
                                        <p:attrNameLst>
                                          <p:attrName>ppt_x</p:attrName>
                                        </p:attrNameLst>
                                      </p:cBhvr>
                                      <p:tavLst>
                                        <p:tav tm="0">
                                          <p:val>
                                            <p:strVal val="#ppt_x-#ppt_w*1.125000"/>
                                          </p:val>
                                        </p:tav>
                                        <p:tav tm="100000">
                                          <p:val>
                                            <p:strVal val="#ppt_x"/>
                                          </p:val>
                                        </p:tav>
                                      </p:tavLst>
                                    </p:anim>
                                    <p:animEffect transition="in" filter="wipe(right)">
                                      <p:cBhvr>
                                        <p:cTn id="11" dur="500"/>
                                        <p:tgtEl>
                                          <p:spTgt spid="6"/>
                                        </p:tgtEl>
                                      </p:cBhvr>
                                    </p:animEffect>
                                    <p:set>
                                      <p:cBhvr>
                                        <p:cTn id="12" dur="500"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0083223" y="694720"/>
            <a:ext cx="1140903" cy="1140903"/>
          </a:xfrm>
          <a:custGeom>
            <a:avLst/>
            <a:gdLst/>
            <a:ahLst/>
            <a:cxnLst/>
            <a:rect l="l" t="t" r="r" b="b"/>
            <a:pathLst>
              <a:path w="1384798" h="1384798">
                <a:moveTo>
                  <a:pt x="1384799" y="692399"/>
                </a:moveTo>
                <a:cubicBezTo>
                  <a:pt x="1384799" y="1074801"/>
                  <a:pt x="1074801" y="1384799"/>
                  <a:pt x="692399" y="1384799"/>
                </a:cubicBezTo>
                <a:cubicBezTo>
                  <a:pt x="309998" y="1384799"/>
                  <a:pt x="0" y="1074801"/>
                  <a:pt x="0" y="692399"/>
                </a:cubicBezTo>
                <a:cubicBezTo>
                  <a:pt x="0" y="309998"/>
                  <a:pt x="309998" y="0"/>
                  <a:pt x="692399" y="0"/>
                </a:cubicBezTo>
                <a:cubicBezTo>
                  <a:pt x="1074801" y="0"/>
                  <a:pt x="1384799" y="309998"/>
                  <a:pt x="1384799" y="692399"/>
                </a:cubicBezTo>
                <a:close/>
              </a:path>
            </a:pathLst>
          </a:custGeom>
          <a:gradFill flip="none" rotWithShape="1">
            <a:gsLst>
              <a:gs pos="0">
                <a:schemeClr val="accent3">
                  <a:alpha val="0"/>
                  <a:lumMod val="0"/>
                  <a:lumOff val="100000"/>
                </a:schemeClr>
              </a:gs>
              <a:gs pos="46000">
                <a:schemeClr val="accent3">
                  <a:alpha val="35000"/>
                  <a:lumMod val="20000"/>
                  <a:lumOff val="80000"/>
                </a:schemeClr>
              </a:gs>
              <a:gs pos="100000">
                <a:schemeClr val="accent3">
                  <a:lumMod val="100000"/>
                </a:schemeClr>
              </a:gs>
            </a:gsLst>
            <a:path path="circle">
              <a:fillToRect t="100000" r="100000"/>
            </a:path>
            <a:tileRect l="-100000" b="-100000"/>
          </a:gradFill>
          <a:ln cap="flat">
            <a:noFill/>
            <a:prstDash val="solid"/>
            <a:miter lim="800000"/>
          </a:ln>
        </p:spPr>
        <p:txBody>
          <a:bodyPr vert="horz" lIns="91440" tIns="45720" rIns="91440" bIns="45720" anchor="ctr"/>
          <a:lstStyle/>
          <a:p>
            <a:pPr marL="0" algn="l"/>
            <a:endParaRPr/>
          </a:p>
        </p:txBody>
      </p:sp>
      <p:grpSp>
        <p:nvGrpSpPr>
          <p:cNvPr id="6" name="Group 6"/>
          <p:cNvGrpSpPr/>
          <p:nvPr/>
        </p:nvGrpSpPr>
        <p:grpSpPr>
          <a:xfrm>
            <a:off x="781050" y="1297126"/>
            <a:ext cx="8515350" cy="4494074"/>
            <a:chOff x="1805" y="3251"/>
            <a:chExt cx="7936" cy="5376"/>
          </a:xfrm>
        </p:grpSpPr>
        <p:sp>
          <p:nvSpPr>
            <p:cNvPr id="7" name="TextBox 7"/>
            <p:cNvSpPr txBox="1"/>
            <p:nvPr/>
          </p:nvSpPr>
          <p:spPr>
            <a:xfrm>
              <a:off x="1805" y="4101"/>
              <a:ext cx="7937" cy="4526"/>
            </a:xfrm>
            <a:prstGeom prst="rect">
              <a:avLst/>
            </a:prstGeom>
          </p:spPr>
          <p:txBody>
            <a:bodyPr vert="horz" wrap="square" lIns="90170" tIns="46990" rIns="90170" bIns="46990" rtlCol="0" anchor="t">
              <a:normAutofit/>
            </a:bodyPr>
            <a:lstStyle/>
            <a:p>
              <a:r>
                <a:rPr lang="en-US" sz="1600" dirty="0"/>
                <a:t>The system includes several project-based queries that help generate meaningful insights from the database. </a:t>
              </a:r>
            </a:p>
            <a:p>
              <a:endParaRPr lang="en-US" sz="1600" dirty="0"/>
            </a:p>
            <a:p>
              <a:r>
                <a:rPr lang="en-US" sz="1600" dirty="0"/>
                <a:t>These queries are used to identify the </a:t>
              </a:r>
              <a:r>
                <a:rPr lang="en-US" sz="1600" b="1" dirty="0"/>
                <a:t>most frequently booked equipment</a:t>
              </a:r>
              <a:r>
                <a:rPr lang="en-US" sz="1600" dirty="0"/>
                <a:t>, determine which </a:t>
              </a:r>
              <a:r>
                <a:rPr lang="en-US" sz="1600" b="1" dirty="0"/>
                <a:t>equipment generates the highest revenue</a:t>
              </a:r>
              <a:r>
                <a:rPr lang="en-US" sz="1600" dirty="0"/>
                <a:t>, and retrieve </a:t>
              </a:r>
              <a:r>
                <a:rPr lang="en-US" sz="1600" b="1" dirty="0"/>
                <a:t>the most recent bookings </a:t>
              </a:r>
              <a:r>
                <a:rPr lang="en-US" sz="1600" dirty="0"/>
                <a:t>made by users.</a:t>
              </a:r>
            </a:p>
            <a:p>
              <a:endParaRPr lang="en-US" sz="1600" dirty="0"/>
            </a:p>
            <a:p>
              <a:r>
                <a:rPr lang="en-US" sz="1600" dirty="0"/>
                <a:t>The system can also </a:t>
              </a:r>
              <a:r>
                <a:rPr lang="en-US" sz="1600" b="1" dirty="0"/>
                <a:t>identify farmers who have not made any bookings</a:t>
              </a:r>
              <a:r>
                <a:rPr lang="en-US" sz="1600" dirty="0"/>
                <a:t>, which helps in understanding user activity and engagement.</a:t>
              </a:r>
            </a:p>
            <a:p>
              <a:endParaRPr lang="en-US" sz="1600" dirty="0"/>
            </a:p>
            <a:p>
              <a:r>
                <a:rPr lang="en-US" sz="1600" dirty="0"/>
                <a:t>Additionally, </a:t>
              </a:r>
              <a:r>
                <a:rPr lang="en-US" sz="1600" b="1" dirty="0"/>
                <a:t>average ratings for each equipment </a:t>
              </a:r>
              <a:r>
                <a:rPr lang="en-US" sz="1600" dirty="0"/>
                <a:t>are calculated using review data, allowing users to evaluate equipment quality based on feedback.</a:t>
              </a:r>
            </a:p>
            <a:p>
              <a:endParaRPr lang="en-US" sz="1600" dirty="0"/>
            </a:p>
            <a:p>
              <a:r>
                <a:rPr lang="en-US" sz="1600" dirty="0"/>
                <a:t>Overall, these queries support data analysis, improve decision-making, and enhance the effectiveness of the </a:t>
              </a:r>
              <a:r>
                <a:rPr lang="en-US" sz="1600" dirty="0" err="1"/>
                <a:t>AgroRent</a:t>
              </a:r>
              <a:r>
                <a:rPr lang="en-US" sz="1600" dirty="0"/>
                <a:t> system.</a:t>
              </a:r>
            </a:p>
          </p:txBody>
        </p:sp>
        <p:sp>
          <p:nvSpPr>
            <p:cNvPr id="8" name="TextBox 8"/>
            <p:cNvSpPr txBox="1"/>
            <p:nvPr/>
          </p:nvSpPr>
          <p:spPr>
            <a:xfrm>
              <a:off x="1805" y="3251"/>
              <a:ext cx="7937" cy="850"/>
            </a:xfrm>
            <a:prstGeom prst="rect">
              <a:avLst/>
            </a:prstGeom>
            <a:noFill/>
          </p:spPr>
          <p:txBody>
            <a:bodyPr vert="horz" wrap="square" lIns="90170" tIns="46990" rIns="90170" bIns="46990" rtlCol="0" anchor="ctr">
              <a:normAutofit/>
            </a:bodyPr>
            <a:lstStyle/>
            <a:p>
              <a:pPr marL="0" indent="0" algn="l" fontAlgn="auto">
                <a:lnSpc>
                  <a:spcPct val="110000"/>
                </a:lnSpc>
                <a:defRPr/>
              </a:pPr>
              <a:r>
                <a:rPr lang="en-US" sz="2000" b="1" i="0" u="none" baseline="0" dirty="0">
                  <a:solidFill>
                    <a:srgbClr val="F27300"/>
                  </a:solidFill>
                  <a:latin typeface="思源黑体 Normal"/>
                  <a:ea typeface="思源黑体 Normal"/>
                </a:rPr>
                <a:t>Key Performance Indicators</a:t>
              </a:r>
              <a:endParaRPr lang="en-US" sz="1100" dirty="0"/>
            </a:p>
          </p:txBody>
        </p:sp>
      </p:grpSp>
      <p:sp>
        <p:nvSpPr>
          <p:cNvPr id="9" name="Freeform 9"/>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F27300"/>
          </a:solidFill>
        </p:spPr>
      </p:sp>
      <p:sp>
        <p:nvSpPr>
          <p:cNvPr id="10" name="TextBox 10"/>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F27300"/>
                </a:solidFill>
                <a:latin typeface="思源黑体 Normal"/>
                <a:ea typeface="思源黑体 Normal"/>
              </a:rPr>
              <a:t>Project-Based Queries</a:t>
            </a:r>
            <a:endParaRPr lang="en-US" sz="1100" dirty="0"/>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anim calcmode="lin" valueType="num">
                                      <p:cBhvr additive="base">
                                        <p:cTn id="6" dur="1000" fill="hold"/>
                                        <p:tgtEl>
                                          <p:spTgt spid="10"/>
                                        </p:tgtEl>
                                        <p:attrNameLst>
                                          <p:attrName>ppt_x</p:attrName>
                                        </p:attrNameLst>
                                      </p:cBhvr>
                                      <p:tavLst>
                                        <p:tav tm="0">
                                          <p:val>
                                            <p:strVal val="#ppt_x"/>
                                          </p:val>
                                        </p:tav>
                                        <p:tav tm="100000">
                                          <p:val>
                                            <p:strVal val="#ppt_x"/>
                                          </p:val>
                                        </p:tav>
                                      </p:tavLst>
                                    </p:anim>
                                    <p:anim calcmode="lin" valueType="num">
                                      <p:cBhvr additive="base">
                                        <p:cTn id="7" dur="1000" fill="hold"/>
                                        <p:tgtEl>
                                          <p:spTgt spid="10"/>
                                        </p:tgtEl>
                                        <p:attrNameLst>
                                          <p:attrName>ppt_y</p:attrName>
                                        </p:attrNameLst>
                                      </p:cBhvr>
                                      <p:tavLst>
                                        <p:tav tm="0">
                                          <p:val>
                                            <p:strVal val="0-#ppt_h/2"/>
                                          </p:val>
                                        </p:tav>
                                        <p:tav tm="100000">
                                          <p:val>
                                            <p:strVal val="#ppt_y"/>
                                          </p:val>
                                        </p:tav>
                                      </p:tavLst>
                                    </p:anim>
                                    <p:set>
                                      <p:cBhvr>
                                        <p:cTn id="8" dur="1000" fill="hold">
                                          <p:stCondLst>
                                            <p:cond delay="0"/>
                                          </p:stCondLst>
                                        </p:cTn>
                                        <p:tgtEl>
                                          <p:spTgt spid="10"/>
                                        </p:tgtEl>
                                        <p:attrNameLst>
                                          <p:attrName>style.visibility</p:attrName>
                                        </p:attrNameLst>
                                      </p:cBhvr>
                                      <p:to>
                                        <p:strVal val="visible"/>
                                      </p:to>
                                    </p:set>
                                  </p:childTnLst>
                                </p:cTn>
                              </p:par>
                            </p:childTnLst>
                          </p:cTn>
                        </p:par>
                        <p:par>
                          <p:cTn id="9" fill="hold">
                            <p:stCondLst>
                              <p:cond delay="0"/>
                            </p:stCondLst>
                            <p:childTnLst>
                              <p:par>
                                <p:cTn id="10" presetID="26" presetClass="entr" presetSubtype="0" fill="hold" nodeType="afterEffect">
                                  <p:stCondLst>
                                    <p:cond delay="0"/>
                                  </p:stCondLst>
                                  <p:childTnLst>
                                    <p:anim calcmode="lin" valueType="num">
                                      <p:cBhvr>
                                        <p:cTn id="11" dur="911"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2" dur="332"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3" dur="332" tmFilter="0, 0; 0.125,0.2665; 0.25,0.4; 0.375,0.465; 0.5,0.5;  0.625,0.535; 0.75,0.6; 0.875,0.7335; 1,1">
                                          <p:stCondLst>
                                            <p:cond delay="332"/>
                                          </p:stCondLst>
                                        </p:cTn>
                                        <p:tgtEl>
                                          <p:spTgt spid="8"/>
                                        </p:tgtEl>
                                        <p:attrNameLst>
                                          <p:attrName>ppt_y</p:attrName>
                                        </p:attrNameLst>
                                      </p:cBhvr>
                                      <p:tavLst>
                                        <p:tav tm="0" fmla="#ppt_y-sin(pi*$)/9">
                                          <p:val>
                                            <p:fltVal val="0"/>
                                          </p:val>
                                        </p:tav>
                                        <p:tav tm="100000">
                                          <p:val>
                                            <p:fltVal val="1"/>
                                          </p:val>
                                        </p:tav>
                                      </p:tavLst>
                                    </p:anim>
                                    <p:anim calcmode="lin" valueType="num">
                                      <p:cBhvr>
                                        <p:cTn id="14" dur="166" tmFilter="0, 0; 0.125,0.2665; 0.25,0.4; 0.375,0.465; 0.5,0.5;  0.625,0.535; 0.75,0.6; 0.875,0.7335; 1,1">
                                          <p:stCondLst>
                                            <p:cond delay="662"/>
                                          </p:stCondLst>
                                        </p:cTn>
                                        <p:tgtEl>
                                          <p:spTgt spid="8"/>
                                        </p:tgtEl>
                                        <p:attrNameLst>
                                          <p:attrName>ppt_y</p:attrName>
                                        </p:attrNameLst>
                                      </p:cBhvr>
                                      <p:tavLst>
                                        <p:tav tm="0" fmla="#ppt_y-sin(pi*$)/27">
                                          <p:val>
                                            <p:fltVal val="0"/>
                                          </p:val>
                                        </p:tav>
                                        <p:tav tm="100000">
                                          <p:val>
                                            <p:fltVal val="1"/>
                                          </p:val>
                                        </p:tav>
                                      </p:tavLst>
                                    </p:anim>
                                    <p:anim calcmode="lin" valueType="num">
                                      <p:cBhvr>
                                        <p:cTn id="15" dur="82" tmFilter="0, 0; 0.125,0.2665; 0.25,0.4; 0.375,0.465; 0.5,0.5;  0.625,0.535; 0.75,0.6; 0.875,0.7335; 1,1">
                                          <p:stCondLst>
                                            <p:cond delay="828"/>
                                          </p:stCondLst>
                                        </p:cTn>
                                        <p:tgtEl>
                                          <p:spTgt spid="8"/>
                                        </p:tgtEl>
                                        <p:attrNameLst>
                                          <p:attrName>ppt_y</p:attrName>
                                        </p:attrNameLst>
                                      </p:cBhvr>
                                      <p:tavLst>
                                        <p:tav tm="0" fmla="#ppt_y-sin(pi*$)/81">
                                          <p:val>
                                            <p:fltVal val="0"/>
                                          </p:val>
                                        </p:tav>
                                        <p:tav tm="100000">
                                          <p:val>
                                            <p:fltVal val="1"/>
                                          </p:val>
                                        </p:tav>
                                      </p:tavLst>
                                    </p:anim>
                                    <p:animEffect transition="in" filter="wipe(down)">
                                      <p:cBhvr>
                                        <p:cTn id="16" dur="290">
                                          <p:stCondLst>
                                            <p:cond delay="0"/>
                                          </p:stCondLst>
                                        </p:cTn>
                                        <p:tgtEl>
                                          <p:spTgt spid="8"/>
                                        </p:tgtEl>
                                      </p:cBhvr>
                                    </p:animEffect>
                                    <p:animScale>
                                      <p:cBhvr>
                                        <p:cTn id="17" dur="13">
                                          <p:stCondLst>
                                            <p:cond delay="325"/>
                                          </p:stCondLst>
                                        </p:cTn>
                                        <p:tgtEl>
                                          <p:spTgt spid="8"/>
                                        </p:tgtEl>
                                      </p:cBhvr>
                                      <p:to x="100000" y="60000"/>
                                    </p:animScale>
                                    <p:animScale>
                                      <p:cBhvr>
                                        <p:cTn id="18" dur="83" decel="50000">
                                          <p:stCondLst>
                                            <p:cond delay="338"/>
                                          </p:stCondLst>
                                        </p:cTn>
                                        <p:tgtEl>
                                          <p:spTgt spid="8"/>
                                        </p:tgtEl>
                                      </p:cBhvr>
                                      <p:to x="100000" y="100000"/>
                                    </p:animScale>
                                    <p:animScale>
                                      <p:cBhvr>
                                        <p:cTn id="19" dur="13">
                                          <p:stCondLst>
                                            <p:cond delay="656"/>
                                          </p:stCondLst>
                                        </p:cTn>
                                        <p:tgtEl>
                                          <p:spTgt spid="8"/>
                                        </p:tgtEl>
                                      </p:cBhvr>
                                      <p:to x="100000" y="80000"/>
                                    </p:animScale>
                                    <p:animScale>
                                      <p:cBhvr>
                                        <p:cTn id="20" dur="83" decel="50000">
                                          <p:stCondLst>
                                            <p:cond delay="669"/>
                                          </p:stCondLst>
                                        </p:cTn>
                                        <p:tgtEl>
                                          <p:spTgt spid="8"/>
                                        </p:tgtEl>
                                      </p:cBhvr>
                                      <p:to x="100000" y="100000"/>
                                    </p:animScale>
                                    <p:animScale>
                                      <p:cBhvr>
                                        <p:cTn id="21" dur="13">
                                          <p:stCondLst>
                                            <p:cond delay="821"/>
                                          </p:stCondLst>
                                        </p:cTn>
                                        <p:tgtEl>
                                          <p:spTgt spid="8"/>
                                        </p:tgtEl>
                                      </p:cBhvr>
                                      <p:to x="100000" y="90000"/>
                                    </p:animScale>
                                    <p:animScale>
                                      <p:cBhvr>
                                        <p:cTn id="22" dur="83" decel="50000">
                                          <p:stCondLst>
                                            <p:cond delay="834"/>
                                          </p:stCondLst>
                                        </p:cTn>
                                        <p:tgtEl>
                                          <p:spTgt spid="8"/>
                                        </p:tgtEl>
                                      </p:cBhvr>
                                      <p:to x="100000" y="100000"/>
                                    </p:animScale>
                                    <p:animScale>
                                      <p:cBhvr>
                                        <p:cTn id="23" dur="13">
                                          <p:stCondLst>
                                            <p:cond delay="904"/>
                                          </p:stCondLst>
                                        </p:cTn>
                                        <p:tgtEl>
                                          <p:spTgt spid="8"/>
                                        </p:tgtEl>
                                      </p:cBhvr>
                                      <p:to x="100000" y="95000"/>
                                    </p:animScale>
                                    <p:animScale>
                                      <p:cBhvr>
                                        <p:cTn id="24" dur="83" decel="50000">
                                          <p:stCondLst>
                                            <p:cond delay="917"/>
                                          </p:stCondLst>
                                        </p:cTn>
                                        <p:tgtEl>
                                          <p:spTgt spid="8"/>
                                        </p:tgtEl>
                                      </p:cBhvr>
                                      <p:to x="100000" y="100000"/>
                                    </p:animScale>
                                    <p:set>
                                      <p:cBhvr>
                                        <p:cTn id="25" dur="1" fill="hold">
                                          <p:stCondLst>
                                            <p:cond delay="0"/>
                                          </p:stCondLst>
                                        </p:cTn>
                                        <p:tgtEl>
                                          <p:spTgt spid="8"/>
                                        </p:tgtEl>
                                        <p:attrNameLst>
                                          <p:attrName>style.visibility</p:attrName>
                                        </p:attrNameLst>
                                      </p:cBhvr>
                                      <p:to>
                                        <p:strVal val="visible"/>
                                      </p:to>
                                    </p:set>
                                  </p:childTnLst>
                                </p:cTn>
                              </p:par>
                            </p:childTnLst>
                          </p:cTn>
                        </p:par>
                        <p:par>
                          <p:cTn id="26" fill="hold">
                            <p:stCondLst>
                              <p:cond delay="0"/>
                            </p:stCondLst>
                            <p:childTnLst>
                              <p:par>
                                <p:cTn id="27" presetID="17" presetClass="entr" presetSubtype="1" fill="hold" nodeType="afterEffect">
                                  <p:stCondLst>
                                    <p:cond delay="0"/>
                                  </p:stCondLst>
                                  <p:childTnLs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ppt_h/2"/>
                                          </p:val>
                                        </p:tav>
                                        <p:tav tm="100000">
                                          <p:val>
                                            <p:strVal val="#ppt_y"/>
                                          </p:val>
                                        </p:tav>
                                      </p:tavLst>
                                    </p:anim>
                                    <p:anim calcmode="lin" valueType="num">
                                      <p:cBhvr additive="base">
                                        <p:cTn id="30" dur="500" fill="hold"/>
                                        <p:tgtEl>
                                          <p:spTgt spid="7"/>
                                        </p:tgtEl>
                                        <p:attrNameLst>
                                          <p:attrName>ppt_w</p:attrName>
                                        </p:attrNameLst>
                                      </p:cBhvr>
                                      <p:tavLst>
                                        <p:tav tm="0">
                                          <p:val>
                                            <p:strVal val="#ppt_w"/>
                                          </p:val>
                                        </p:tav>
                                        <p:tav tm="100000">
                                          <p:val>
                                            <p:strVal val="#ppt_w"/>
                                          </p:val>
                                        </p:tav>
                                      </p:tavLst>
                                    </p:anim>
                                    <p:anim calcmode="lin" valueType="num">
                                      <p:cBhvr additive="base">
                                        <p:cTn id="31" dur="500" fill="hold"/>
                                        <p:tgtEl>
                                          <p:spTgt spid="7"/>
                                        </p:tgtEl>
                                        <p:attrNameLst>
                                          <p:attrName>ppt_h</p:attrName>
                                        </p:attrNameLst>
                                      </p:cBhvr>
                                      <p:tavLst>
                                        <p:tav tm="0">
                                          <p:val>
                                            <p:fltVal val="0"/>
                                          </p:val>
                                        </p:tav>
                                        <p:tav tm="100000">
                                          <p:val>
                                            <p:strVal val="#ppt_h"/>
                                          </p:val>
                                        </p:tav>
                                      </p:tavLst>
                                    </p:anim>
                                    <p:set>
                                      <p:cBhvr additive="base">
                                        <p:cTn id="32" dur="500"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6767830" y="2012950"/>
            <a:ext cx="3902710" cy="721360"/>
          </a:xfrm>
          <a:prstGeom prst="rect">
            <a:avLst/>
          </a:prstGeom>
          <a:noFill/>
          <a:ln>
            <a:noFill/>
          </a:ln>
        </p:spPr>
        <p:txBody>
          <a:bodyPr vert="horz" lIns="91440" tIns="45720" rIns="91440" bIns="45720" rtlCol="0" anchor="ctr">
            <a:noAutofit/>
          </a:bodyPr>
          <a:lstStyle/>
          <a:p>
            <a:pPr marL="0" marR="0" indent="0" algn="r" fontAlgn="auto">
              <a:lnSpc>
                <a:spcPct val="120000"/>
              </a:lnSpc>
              <a:spcBef>
                <a:spcPct val="0"/>
              </a:spcBef>
              <a:spcAft>
                <a:spcPct val="0"/>
              </a:spcAft>
              <a:buNone/>
              <a:defRPr/>
            </a:pPr>
            <a:r>
              <a:rPr lang="en-US" sz="4800" b="0" i="0" u="none" spc="400" baseline="0">
                <a:ln/>
                <a:solidFill>
                  <a:srgbClr val="F27300"/>
                </a:solidFill>
                <a:effectLst/>
                <a:latin typeface="思源黑体 Medium"/>
                <a:ea typeface="思源黑体 Medium"/>
              </a:rPr>
              <a:t>PART   05     </a:t>
            </a:r>
            <a:endParaRPr lang="en-US" sz="1100"/>
          </a:p>
        </p:txBody>
      </p:sp>
      <p:sp>
        <p:nvSpPr>
          <p:cNvPr id="3" name="TextBox 3"/>
          <p:cNvSpPr txBox="1"/>
          <p:nvPr/>
        </p:nvSpPr>
        <p:spPr>
          <a:xfrm>
            <a:off x="3771265" y="2889885"/>
            <a:ext cx="6899275" cy="2569210"/>
          </a:xfrm>
          <a:prstGeom prst="rect">
            <a:avLst/>
          </a:prstGeom>
          <a:noFill/>
          <a:ln>
            <a:noFill/>
          </a:ln>
        </p:spPr>
        <p:txBody>
          <a:bodyPr vert="horz" lIns="91440" tIns="45720" rIns="91440" bIns="45720" rtlCol="0" anchor="t">
            <a:normAutofit/>
          </a:bodyPr>
          <a:lstStyle/>
          <a:p>
            <a:pPr marL="0" indent="0" algn="r" fontAlgn="auto">
              <a:lnSpc>
                <a:spcPct val="120000"/>
              </a:lnSpc>
              <a:spcBef>
                <a:spcPct val="0"/>
              </a:spcBef>
              <a:buNone/>
              <a:defRPr/>
            </a:pPr>
            <a:r>
              <a:rPr lang="en-US" sz="4800" b="0" i="0" u="none" spc="400" baseline="0">
                <a:solidFill>
                  <a:srgbClr val="F27300"/>
                </a:solidFill>
                <a:latin typeface="思源黑体 Medium"/>
                <a:ea typeface="思源黑体 Medium"/>
              </a:rPr>
              <a:t>Conclusion</a:t>
            </a:r>
            <a:endParaRPr lang="en-US" sz="110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animEffect transition="in" filter="plus(in)">
                                      <p:cBhvr>
                                        <p:cTn id="6" dur="1000"/>
                                        <p:tgtEl>
                                          <p:spTgt spid="2"/>
                                        </p:tgtEl>
                                      </p:cBhvr>
                                    </p:animEffect>
                                    <p:set>
                                      <p:cBhvr>
                                        <p:cTn id="7" dur="1000" fill="hold">
                                          <p:stCondLst>
                                            <p:cond delay="0"/>
                                          </p:stCondLst>
                                        </p:cTn>
                                        <p:tgtEl>
                                          <p:spTgt spid="2"/>
                                        </p:tgtEl>
                                        <p:attrNameLst>
                                          <p:attrName>style.visibility</p:attrName>
                                        </p:attrNameLst>
                                      </p:cBhvr>
                                      <p:to>
                                        <p:strVal val="visible"/>
                                      </p:to>
                                    </p:set>
                                  </p:childTnLst>
                                </p:cTn>
                              </p:par>
                            </p:childTnLst>
                          </p:cTn>
                        </p:par>
                        <p:par>
                          <p:cTn id="8" fill="hold">
                            <p:stCondLst>
                              <p:cond delay="0"/>
                            </p:stCondLst>
                            <p:childTnLst>
                              <p:par>
                                <p:cTn id="9" presetID="16" presetClass="entr" presetSubtype="21" fill="hold" nodeType="afterEffect">
                                  <p:stCondLst>
                                    <p:cond delay="0"/>
                                  </p:stCondLst>
                                  <p:childTnLst>
                                    <p:animEffect transition="in" filter="barn(inVertical)">
                                      <p:cBhvr>
                                        <p:cTn id="10" dur="500"/>
                                        <p:tgtEl>
                                          <p:spTgt spid="3"/>
                                        </p:tgtEl>
                                      </p:cBhvr>
                                    </p:animEffect>
                                    <p:set>
                                      <p:cBhvr>
                                        <p:cTn id="11" dur="5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1631615" y="1371600"/>
            <a:ext cx="8928769" cy="4823848"/>
          </a:xfrm>
          <a:prstGeom prst="rect">
            <a:avLst/>
          </a:prstGeom>
          <a:solidFill>
            <a:srgbClr val="FFE3CB"/>
          </a:solidFill>
          <a:ln>
            <a:noFill/>
          </a:ln>
        </p:spPr>
        <p:txBody>
          <a:bodyPr vert="horz" lIns="91440" tIns="45720" rIns="91440" bIns="45720" anchor="ctr"/>
          <a:lstStyle/>
          <a:p>
            <a:pPr marL="0" algn="ctr"/>
            <a:endParaRPr/>
          </a:p>
        </p:txBody>
      </p:sp>
      <p:grpSp>
        <p:nvGrpSpPr>
          <p:cNvPr id="4" name="Group 4"/>
          <p:cNvGrpSpPr/>
          <p:nvPr/>
        </p:nvGrpSpPr>
        <p:grpSpPr>
          <a:xfrm>
            <a:off x="2133600" y="1600200"/>
            <a:ext cx="7925799" cy="4495800"/>
            <a:chOff x="1805" y="3251"/>
            <a:chExt cx="7937" cy="5664"/>
          </a:xfrm>
          <a:noFill/>
        </p:grpSpPr>
        <p:sp>
          <p:nvSpPr>
            <p:cNvPr id="5" name="TextBox 5"/>
            <p:cNvSpPr txBox="1"/>
            <p:nvPr/>
          </p:nvSpPr>
          <p:spPr>
            <a:xfrm>
              <a:off x="1805" y="4389"/>
              <a:ext cx="7937" cy="4526"/>
            </a:xfrm>
            <a:prstGeom prst="rect">
              <a:avLst/>
            </a:prstGeom>
            <a:grpFill/>
          </p:spPr>
          <p:txBody>
            <a:bodyPr vert="horz" wrap="square" lIns="90170" tIns="46990" rIns="90170" bIns="46990" rtlCol="0" anchor="t">
              <a:normAutofit/>
            </a:bodyPr>
            <a:lstStyle/>
            <a:p>
              <a:r>
                <a:rPr lang="en-US" sz="1600" dirty="0" err="1"/>
                <a:t>AgroRent</a:t>
              </a:r>
              <a:r>
                <a:rPr lang="en-US" sz="1600" dirty="0"/>
                <a:t> provides a centralized and efficient solution for renting agricultural equipment by simplifying access, improving transparency, and ensuring better resource utilization.</a:t>
              </a:r>
            </a:p>
            <a:p>
              <a:endParaRPr lang="en-US" sz="1600" dirty="0"/>
            </a:p>
            <a:p>
              <a:r>
                <a:rPr lang="en-US" sz="1600" dirty="0"/>
                <a:t>The system integrates key database concepts such as relational schema design, constraints, and SQL operations to manage users, equipment, bookings, and payments effectively.</a:t>
              </a:r>
            </a:p>
            <a:p>
              <a:endParaRPr lang="en-US" sz="1600" dirty="0"/>
            </a:p>
            <a:p>
              <a:r>
                <a:rPr lang="en-US" sz="1600" dirty="0"/>
                <a:t>By organizing data efficiently and enabling meaningful analysis through queries, the system supports better decision-making and enhances user experience.</a:t>
              </a:r>
            </a:p>
            <a:p>
              <a:endParaRPr lang="en-US" sz="1600" dirty="0"/>
            </a:p>
            <a:p>
              <a:r>
                <a:rPr lang="en-US" sz="1600" dirty="0"/>
                <a:t>Overall, </a:t>
              </a:r>
              <a:r>
                <a:rPr lang="en-US" sz="1600" dirty="0" err="1"/>
                <a:t>AgroRent</a:t>
              </a:r>
              <a:r>
                <a:rPr lang="en-US" sz="1600" dirty="0"/>
                <a:t> is scalable and can be further improved with features such as real-time payments, notifications, and mobile application support in the future.</a:t>
              </a:r>
            </a:p>
          </p:txBody>
        </p:sp>
        <p:sp>
          <p:nvSpPr>
            <p:cNvPr id="6" name="TextBox 6"/>
            <p:cNvSpPr txBox="1"/>
            <p:nvPr/>
          </p:nvSpPr>
          <p:spPr>
            <a:xfrm>
              <a:off x="1805" y="3251"/>
              <a:ext cx="7937" cy="850"/>
            </a:xfrm>
            <a:prstGeom prst="rect">
              <a:avLst/>
            </a:prstGeom>
            <a:grpFill/>
          </p:spPr>
          <p:txBody>
            <a:bodyPr vert="horz" wrap="square" lIns="90170" tIns="46990" rIns="90170" bIns="46990" rtlCol="0" anchor="ctr">
              <a:normAutofit/>
            </a:bodyPr>
            <a:lstStyle/>
            <a:p>
              <a:pPr marL="0" indent="0" algn="l" fontAlgn="auto">
                <a:lnSpc>
                  <a:spcPct val="110000"/>
                </a:lnSpc>
                <a:defRPr/>
              </a:pPr>
              <a:r>
                <a:rPr lang="en-US" sz="2000" b="1" i="0" u="none" baseline="0" dirty="0">
                  <a:solidFill>
                    <a:srgbClr val="F27300"/>
                  </a:solidFill>
                  <a:latin typeface="思源黑体 Normal"/>
                  <a:ea typeface="思源黑体 Normal"/>
                </a:rPr>
                <a:t>Centralized and Efficient System</a:t>
              </a:r>
              <a:endParaRPr lang="en-US" sz="1100" dirty="0"/>
            </a:p>
          </p:txBody>
        </p:sp>
      </p:grpSp>
      <p:sp>
        <p:nvSpPr>
          <p:cNvPr id="7" name="Freeform 7"/>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F27300"/>
          </a:solidFill>
        </p:spPr>
      </p:sp>
      <p:sp>
        <p:nvSpPr>
          <p:cNvPr id="8" name="TextBox 8"/>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F27300"/>
                </a:solidFill>
                <a:latin typeface="思源黑体 Normal"/>
                <a:ea typeface="思源黑体 Normal"/>
              </a:rPr>
              <a:t>System Benefits and Future Outlook</a:t>
            </a:r>
            <a:endParaRPr lang="en-US" sz="1100" dirty="0"/>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afterEffect">
                                  <p:stCondLst>
                                    <p:cond delay="0"/>
                                  </p:stCondLst>
                                  <p:childTnLst>
                                    <p:anim calcmode="lin" valueType="num">
                                      <p:cBhvr>
                                        <p:cTn id="6" dur="1000" fill="hold"/>
                                        <p:tgtEl>
                                          <p:spTgt spid="8"/>
                                        </p:tgtEl>
                                        <p:attrNameLst>
                                          <p:attrName>ppt_x</p:attrName>
                                        </p:attrNameLst>
                                      </p:cBhvr>
                                      <p:tavLst>
                                        <p:tav tm="0">
                                          <p:val>
                                            <p:strVal val="#ppt_x-.2"/>
                                          </p:val>
                                        </p:tav>
                                        <p:tav tm="100000">
                                          <p:val>
                                            <p:strVal val="#ppt_x"/>
                                          </p:val>
                                        </p:tav>
                                      </p:tavLst>
                                    </p:anim>
                                    <p:anim calcmode="lin" valueType="num">
                                      <p:cBhvr>
                                        <p:cTn id="7"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8" dur="1000"/>
                                        <p:tgtEl>
                                          <p:spTgt spid="8"/>
                                        </p:tgtEl>
                                      </p:cBhvr>
                                    </p:animEffec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12" presetClass="entr" presetSubtype="2" fill="hold" nodeType="afterEffect">
                                  <p:stCondLst>
                                    <p:cond delay="0"/>
                                  </p:stCondLst>
                                  <p:childTnLst>
                                    <p:anim calcmode="lin" valueType="num">
                                      <p:cBhvr additive="base">
                                        <p:cTn id="12" dur="500"/>
                                        <p:tgtEl>
                                          <p:spTgt spid="6"/>
                                        </p:tgtEl>
                                        <p:attrNameLst>
                                          <p:attrName>ppt_x</p:attrName>
                                        </p:attrNameLst>
                                      </p:cBhvr>
                                      <p:tavLst>
                                        <p:tav tm="0">
                                          <p:val>
                                            <p:strVal val="#ppt_x+#ppt_w*1.125000"/>
                                          </p:val>
                                        </p:tav>
                                        <p:tav tm="100000">
                                          <p:val>
                                            <p:strVal val="#ppt_x"/>
                                          </p:val>
                                        </p:tav>
                                      </p:tavLst>
                                    </p:anim>
                                    <p:animEffect transition="in" filter="wipe(left)">
                                      <p:cBhvr>
                                        <p:cTn id="13" dur="500"/>
                                        <p:tgtEl>
                                          <p:spTgt spid="6"/>
                                        </p:tgtEl>
                                      </p:cBhvr>
                                    </p:animEffect>
                                    <p:set>
                                      <p:cBhvr>
                                        <p:cTn id="14" dur="500"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13" presetClass="entr" presetSubtype="32" fill="hold" nodeType="afterEffect">
                                  <p:stCondLst>
                                    <p:cond delay="0"/>
                                  </p:stCondLst>
                                  <p:childTnLst>
                                    <p:animEffect transition="in" filter="plus(out)">
                                      <p:cBhvr>
                                        <p:cTn id="17" dur="1000"/>
                                        <p:tgtEl>
                                          <p:spTgt spid="5"/>
                                        </p:tgtEl>
                                      </p:cBhvr>
                                    </p:animEffect>
                                    <p:set>
                                      <p:cBhvr>
                                        <p:cTn id="18" dur="1000"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E79EF93-3640-CDC7-ABA3-09CDBED51308}"/>
              </a:ext>
            </a:extLst>
          </p:cNvPr>
          <p:cNvSpPr txBox="1"/>
          <p:nvPr/>
        </p:nvSpPr>
        <p:spPr>
          <a:xfrm>
            <a:off x="914400" y="2828835"/>
            <a:ext cx="6096000" cy="1200329"/>
          </a:xfrm>
          <a:prstGeom prst="rect">
            <a:avLst/>
          </a:prstGeom>
          <a:noFill/>
        </p:spPr>
        <p:txBody>
          <a:bodyPr wrap="square" rtlCol="0">
            <a:spAutoFit/>
          </a:bodyPr>
          <a:lstStyle/>
          <a:p>
            <a:r>
              <a:rPr lang="en-IN" sz="7200" dirty="0">
                <a:solidFill>
                  <a:schemeClr val="accent1"/>
                </a:solidFill>
              </a:rPr>
              <a:t>THANK YOU</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rgbClr val="262626"/>
      </a:dk1>
      <a:lt1>
        <a:srgbClr val="FFFFFF"/>
      </a:lt1>
      <a:dk2>
        <a:srgbClr val="F27300"/>
      </a:dk2>
      <a:lt2>
        <a:srgbClr val="FFFFFF"/>
      </a:lt2>
      <a:accent1>
        <a:srgbClr val="F27300"/>
      </a:accent1>
      <a:accent2>
        <a:srgbClr val="F27300"/>
      </a:accent2>
      <a:accent3>
        <a:srgbClr val="F27300"/>
      </a:accent3>
      <a:accent4>
        <a:srgbClr val="F27300"/>
      </a:accent4>
      <a:accent5>
        <a:srgbClr val="F27300"/>
      </a:accent5>
      <a:accent6>
        <a:srgbClr val="F27300"/>
      </a:accent6>
      <a:hlink>
        <a:srgbClr val="262626"/>
      </a:hlink>
      <a:folHlink>
        <a:srgbClr val="262626"/>
      </a:folHlink>
    </a:clrScheme>
    <a:fontScheme name="Office">
      <a:majorFont>
        <a:latin typeface="思源黑体 Normal"/>
        <a:ea typeface="思源黑体 Normal"/>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思源黑体 Normal"/>
        <a:ea typeface="思源黑体 Normal"/>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1177</Words>
  <Application>Microsoft Office PowerPoint</Application>
  <PresentationFormat>Widescreen</PresentationFormat>
  <Paragraphs>149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Courier New</vt:lpstr>
      <vt:lpstr>Wingdings</vt:lpstr>
      <vt:lpstr>思源黑体 Medium</vt:lpstr>
      <vt:lpstr>思源黑体 Normal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Smruti Chandrasekar</dc:creator>
  <cp:lastModifiedBy>Smruti Chandrasekar</cp:lastModifiedBy>
  <cp:revision>5</cp:revision>
  <dcterms:created xsi:type="dcterms:W3CDTF">2026-03-25T16:00:52Z</dcterms:created>
  <dcterms:modified xsi:type="dcterms:W3CDTF">2026-03-25T16:53:42Z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pyright">
    <vt:lpwstr>https://docmee.cn</vt:lpwstr>
  </property>
  <property fmtid="{D5CDD505-2E9C-101B-9397-08002B2CF9AE}" pid="3" name="developer">
    <vt:lpwstr>https://github.com/veasion</vt:lpwstr>
  </property>
  <property fmtid="{D5CDD505-2E9C-101B-9397-08002B2CF9AE}" pid="4" name="AIGC">
    <vt:lpwstr>{"ContentPropagator":"文多多","Label":"1","ReservedCode1":"1774454452993","ProduceID":"wenduoduo-pptx-1774454452993","ReservedCode2":"1774454452993","PropagateID":"wenduoduo-pptx1774454452993","ContentProducer":"文多多"}</vt:lpwstr>
  </property>
</Properties>
</file>